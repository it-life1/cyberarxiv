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62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6981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1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2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3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4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5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6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7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8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9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10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11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097280" y="26517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CyberArXiv</a:t>
            </a:r>
            <a:endParaRPr lang="en-US" sz="7200" dirty="0">
              <a:latin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97280" y="4023360"/>
            <a:ext cx="91440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Система сбора и классификации</a:t>
            </a:r>
            <a:endParaRPr lang="en-US" sz="220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научных статей </a:t>
            </a:r>
            <a:r>
              <a:rPr lang="en-US" sz="2200" dirty="0" err="1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по</a:t>
            </a:r>
            <a:r>
              <a:rPr lang="en-US" sz="22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кибербезопасности</a:t>
            </a:r>
            <a:endParaRPr lang="en-US" sz="2200" dirty="0">
              <a:solidFill>
                <a:srgbClr val="6B7280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97280" y="5943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8B7BBF-2B14-1F0A-ED6D-EDF2FA8525CB}"/>
              </a:ext>
            </a:extLst>
          </p:cNvPr>
          <p:cNvSpPr txBox="1"/>
          <p:nvPr/>
        </p:nvSpPr>
        <p:spPr>
          <a:xfrm>
            <a:off x="1000125" y="52617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lang="ru-RU" sz="1800" b="0" i="0" u="none" strike="noStrike" cap="none" dirty="0">
                <a:solidFill>
                  <a:srgbClr val="222222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Звонов · Кондрашкин · Долгов · </a:t>
            </a:r>
            <a:r>
              <a:rPr lang="ru-RU" sz="1800" b="0" i="0" u="none" strike="noStrike" cap="none" dirty="0" err="1">
                <a:solidFill>
                  <a:srgbClr val="222222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Трембач</a:t>
            </a:r>
            <a:r>
              <a:rPr lang="ru-RU" sz="1800" dirty="0" err="1">
                <a:solidFill>
                  <a:srgbClr val="222222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е</a:t>
            </a:r>
            <a:r>
              <a:rPr lang="ru-RU" sz="1800" b="0" i="0" u="none" strike="noStrike" cap="none" dirty="0" err="1">
                <a:solidFill>
                  <a:srgbClr val="222222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в</a:t>
            </a:r>
            <a:r>
              <a:rPr lang="ru-RU" sz="1800" b="0" i="0" u="none" strike="noStrike" cap="none" dirty="0">
                <a:solidFill>
                  <a:srgbClr val="222222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· Мозгов</a:t>
            </a:r>
            <a:endParaRPr lang="ru-RU"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58334A-9A91-D01D-4AFC-5FC72921898B}"/>
              </a:ext>
            </a:extLst>
          </p:cNvPr>
          <p:cNvSpPr txBox="1"/>
          <p:nvPr/>
        </p:nvSpPr>
        <p:spPr>
          <a:xfrm>
            <a:off x="1000125" y="494919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lang="ru-RU" sz="1800" b="0" i="0" u="none" strike="noStrike" cap="none" dirty="0">
                <a:solidFill>
                  <a:srgbClr val="666666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Команда:</a:t>
            </a:r>
            <a:endParaRPr lang="ru-RU"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Что появилось в этой версии</a:t>
            </a:r>
            <a:endParaRPr lang="en-US" sz="30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011472"/>
              </p:ext>
            </p:extLst>
          </p:nvPr>
        </p:nvGraphicFramePr>
        <p:xfrm>
          <a:off x="640080" y="1546013"/>
          <a:ext cx="10972800" cy="329184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Компонент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Было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Стало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Источники данных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i="1" dirty="0" err="1">
                          <a:solidFill>
                            <a:srgbClr val="6B728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arXiv</a:t>
                      </a:r>
                      <a:r>
                        <a:rPr lang="en-US" sz="1300" i="1" dirty="0">
                          <a:solidFill>
                            <a:srgbClr val="6B728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 (hardcode)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YAML-</a:t>
                      </a:r>
                      <a:r>
                        <a:rPr lang="en-US" sz="1300" dirty="0" err="1">
                          <a:solidFill>
                            <a:srgbClr val="111827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коллекторы</a:t>
                      </a:r>
                      <a:r>
                        <a:rPr lang="en-US" sz="1300" dirty="0">
                          <a:solidFill>
                            <a:srgbClr val="111827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: arXiv, CORE, КиберЛенинка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Формат сырых данных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i="1" dirty="0">
                          <a:solidFill>
                            <a:srgbClr val="6B728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arxiv_papers.rds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 err="1">
                          <a:solidFill>
                            <a:srgbClr val="111827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arxiv_papers.parquet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ML-классификация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i="1" dirty="0">
                          <a:solidFill>
                            <a:srgbClr val="6B728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Один ml_tag на статью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Отдельная колонка на каждую задачу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Аналитика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i="1" dirty="0">
                          <a:solidFill>
                            <a:srgbClr val="6B728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Pie-charts, cross-tab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Гистограммы, confidence, Keyword vs ML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Управление данными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i="1" dirty="0">
                          <a:solidFill>
                            <a:srgbClr val="6B728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—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Удаление статей по тегу/источнику из GUI</a:t>
                      </a:r>
                      <a:endParaRPr lang="en-US" sz="13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 / 11</a:t>
            </a:r>
            <a:endParaRPr lang="en-US" sz="9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АРХИТЕКТУРА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Pluggable коллекторы</a:t>
            </a:r>
            <a:endParaRPr lang="en-US" sz="3000" dirty="0">
              <a:latin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inst/collectors/arxiv.yml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486400" cy="32918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74520"/>
            <a:ext cx="73152" cy="3291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6596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name: arxiv</a:t>
            </a:r>
            <a:endParaRPr lang="en-US" sz="130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label: arXiv (cs.CR)</a:t>
            </a:r>
            <a:endParaRPr lang="en-US" sz="130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type: atom</a:t>
            </a:r>
            <a:endParaRPr lang="en-US" sz="130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enabled: true</a:t>
            </a:r>
            <a:endParaRPr lang="en-US" sz="130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url: https://export.arxiv.org/api/query</a:t>
            </a:r>
            <a:endParaRPr lang="en-US" sz="130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params:</a:t>
            </a:r>
            <a:endParaRPr lang="en-US" sz="130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search_query: cat:cs.CR</a:t>
            </a:r>
            <a:endParaRPr lang="en-US" sz="130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sortBy: submittedDate</a:t>
            </a:r>
            <a:endParaRPr lang="en-US" sz="130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max_results: 100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58368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Поддерживаемые источники</a:t>
            </a:r>
            <a:endParaRPr lang="en-US" sz="14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334338"/>
              </p:ext>
            </p:extLst>
          </p:nvPr>
        </p:nvGraphicFramePr>
        <p:xfrm>
          <a:off x="6583680" y="1965960"/>
          <a:ext cx="4937760" cy="2304288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Источник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Тип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Язык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arXiv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Times New Roman" panose="02020603050405020304" pitchFamily="18" charset="0"/>
                          <a:ea typeface="Consolas" pitchFamily="34" charset="-122"/>
                          <a:cs typeface="Times New Roman" panose="02020603050405020304" pitchFamily="18" charset="0"/>
                        </a:rPr>
                        <a:t>atom</a:t>
                      </a:r>
                      <a:endParaRPr lang="en-US" sz="1100" dirty="0">
                        <a:latin typeface="Times New Roman" panose="02020603050405020304" pitchFamily="18" charset="0"/>
                        <a:ea typeface="Consolas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EN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CORE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 err="1">
                          <a:solidFill>
                            <a:srgbClr val="6B7280"/>
                          </a:solidFill>
                          <a:latin typeface="Times New Roman" panose="02020603050405020304" pitchFamily="18" charset="0"/>
                          <a:ea typeface="Consolas" pitchFamily="34" charset="-122"/>
                          <a:cs typeface="Times New Roman" panose="02020603050405020304" pitchFamily="18" charset="0"/>
                        </a:rPr>
                        <a:t>json_api</a:t>
                      </a:r>
                      <a:endParaRPr lang="en-US" sz="1100" dirty="0">
                        <a:latin typeface="Times New Roman" panose="02020603050405020304" pitchFamily="18" charset="0"/>
                        <a:ea typeface="Consolas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EN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КиберЛенинка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Times New Roman" panose="02020603050405020304" pitchFamily="18" charset="0"/>
                          <a:ea typeface="Consolas" pitchFamily="34" charset="-122"/>
                          <a:cs typeface="Times New Roman" panose="02020603050405020304" pitchFamily="18" charset="0"/>
                        </a:rPr>
                        <a:t>oai_pmh</a:t>
                      </a:r>
                      <a:endParaRPr lang="en-US" sz="1100" dirty="0">
                        <a:latin typeface="Times New Roman" panose="02020603050405020304" pitchFamily="18" charset="0"/>
                        <a:ea typeface="Consolas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RU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Любой RSS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Times New Roman" panose="02020603050405020304" pitchFamily="18" charset="0"/>
                          <a:ea typeface="Consolas" pitchFamily="34" charset="-122"/>
                          <a:cs typeface="Times New Roman" panose="02020603050405020304" pitchFamily="18" charset="0"/>
                        </a:rPr>
                        <a:t>rss</a:t>
                      </a:r>
                      <a:endParaRPr lang="en-US" sz="1100" dirty="0">
                        <a:latin typeface="Times New Roman" panose="02020603050405020304" pitchFamily="18" charset="0"/>
                        <a:ea typeface="Consolas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—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Custom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Times New Roman" panose="02020603050405020304" pitchFamily="18" charset="0"/>
                          <a:ea typeface="Consolas" pitchFamily="34" charset="-122"/>
                          <a:cs typeface="Times New Roman" panose="02020603050405020304" pitchFamily="18" charset="0"/>
                        </a:rPr>
                        <a:t>r_script</a:t>
                      </a:r>
                      <a:endParaRPr lang="en-US" sz="1100" dirty="0">
                        <a:latin typeface="Times New Roman" panose="02020603050405020304" pitchFamily="18" charset="0"/>
                        <a:ea typeface="Consolas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—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Новый коллектор — YAML-файл в inst/collectors/ или ~/.cyberarxiv/collectors/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 / 11</a:t>
            </a:r>
            <a:endParaRPr lang="en-US" sz="9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СХЕМА ДАННЫХ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ML-классификация: система задач</a:t>
            </a:r>
            <a:endParaRPr lang="en-US" sz="3000" dirty="0">
              <a:latin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03520" cy="9144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0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Один </a:t>
            </a:r>
            <a:r>
              <a:rPr lang="en-US" sz="1200" dirty="0">
                <a:solidFill>
                  <a:srgbClr val="111827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ml_tag</a:t>
            </a:r>
            <a:r>
              <a:rPr lang="en-US" sz="1300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на статью — повторный запуск перезаписывал результаты.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217920" y="1554480"/>
            <a:ext cx="5303520" cy="914400"/>
          </a:xfrm>
          <a:prstGeom prst="rect">
            <a:avLst/>
          </a:prstGeom>
          <a:solidFill>
            <a:srgbClr val="EEF2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16459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0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Каждая задача пишет в собственную колонку — результаты независимы.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papers (DuckDB)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063240"/>
          <a:ext cx="10972800" cy="2340864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onsolas" pitchFamily="34" charset="-122"/>
                          <a:cs typeface="Times New Roman" panose="02020603050405020304" pitchFamily="18" charset="0"/>
                        </a:rPr>
                        <a:t>колонка</a:t>
                      </a:r>
                      <a:endParaRPr lang="en-US" sz="1100" dirty="0">
                        <a:latin typeface="Times New Roman" panose="02020603050405020304" pitchFamily="18" charset="0"/>
                        <a:ea typeface="Consolas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onsolas" pitchFamily="34" charset="-122"/>
                          <a:cs typeface="Times New Roman" panose="02020603050405020304" pitchFamily="18" charset="0"/>
                        </a:rPr>
                        <a:t>описание</a:t>
                      </a:r>
                      <a:endParaRPr lang="en-US" sz="1100" dirty="0">
                        <a:latin typeface="Times New Roman" panose="02020603050405020304" pitchFamily="18" charset="0"/>
                        <a:ea typeface="Consolas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Times New Roman" panose="02020603050405020304" pitchFamily="18" charset="0"/>
                          <a:ea typeface="Consolas" pitchFamily="34" charset="-122"/>
                          <a:cs typeface="Times New Roman" panose="02020603050405020304" pitchFamily="18" charset="0"/>
                        </a:rPr>
                        <a:t>paper_id</a:t>
                      </a:r>
                      <a:endParaRPr lang="en-US" sz="1100" dirty="0">
                        <a:latin typeface="Times New Roman" panose="02020603050405020304" pitchFamily="18" charset="0"/>
                        <a:ea typeface="Consolas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PK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Times New Roman" panose="02020603050405020304" pitchFamily="18" charset="0"/>
                          <a:ea typeface="Consolas" pitchFamily="34" charset="-122"/>
                          <a:cs typeface="Times New Roman" panose="02020603050405020304" pitchFamily="18" charset="0"/>
                        </a:rPr>
                        <a:t>tag</a:t>
                      </a:r>
                      <a:endParaRPr lang="en-US" sz="1100" dirty="0">
                        <a:latin typeface="Times New Roman" panose="02020603050405020304" pitchFamily="18" charset="0"/>
                        <a:ea typeface="Consolas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keyword-тег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Times New Roman" panose="02020603050405020304" pitchFamily="18" charset="0"/>
                          <a:ea typeface="Consolas" pitchFamily="34" charset="-122"/>
                          <a:cs typeface="Times New Roman" panose="02020603050405020304" pitchFamily="18" charset="0"/>
                        </a:rPr>
                        <a:t>ml_tag_default</a:t>
                      </a:r>
                      <a:endParaRPr lang="en-US" sz="1100" dirty="0">
                        <a:latin typeface="Times New Roman" panose="02020603050405020304" pitchFamily="18" charset="0"/>
                        <a:ea typeface="Consolas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задача: общая классификация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Times New Roman" panose="02020603050405020304" pitchFamily="18" charset="0"/>
                          <a:ea typeface="Consolas" pitchFamily="34" charset="-122"/>
                          <a:cs typeface="Times New Roman" panose="02020603050405020304" pitchFamily="18" charset="0"/>
                        </a:rPr>
                        <a:t>ml_confidence_default</a:t>
                      </a:r>
                      <a:endParaRPr lang="en-US" sz="1100" dirty="0">
                        <a:latin typeface="Times New Roman" panose="02020603050405020304" pitchFamily="18" charset="0"/>
                        <a:ea typeface="Consolas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уверенность модели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Times New Roman" panose="02020603050405020304" pitchFamily="18" charset="0"/>
                          <a:ea typeface="Consolas" pitchFamily="34" charset="-122"/>
                          <a:cs typeface="Times New Roman" panose="02020603050405020304" pitchFamily="18" charset="0"/>
                        </a:rPr>
                        <a:t>ml_tag_malware</a:t>
                      </a:r>
                      <a:endParaRPr lang="en-US" sz="1100" dirty="0">
                        <a:latin typeface="Times New Roman" panose="02020603050405020304" pitchFamily="18" charset="0"/>
                        <a:ea typeface="Consolas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задача: малварь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Times New Roman" panose="02020603050405020304" pitchFamily="18" charset="0"/>
                          <a:ea typeface="Consolas" pitchFamily="34" charset="-122"/>
                          <a:cs typeface="Times New Roman" panose="02020603050405020304" pitchFamily="18" charset="0"/>
                        </a:rPr>
                        <a:t>ml_confidence_malware</a:t>
                      </a:r>
                      <a:endParaRPr lang="en-US" sz="1100" dirty="0">
                        <a:latin typeface="Times New Roman" panose="02020603050405020304" pitchFamily="18" charset="0"/>
                        <a:ea typeface="Consolas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...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  <a:ea typeface="Consolas" pitchFamily="34" charset="-122"/>
                          <a:cs typeface="Times New Roman" panose="02020603050405020304" pitchFamily="18" charset="0"/>
                        </a:rPr>
                        <a:t>ml_tag_&lt;task&gt;</a:t>
                      </a:r>
                      <a:endParaRPr lang="en-US" sz="1100" dirty="0">
                        <a:latin typeface="Times New Roman" panose="02020603050405020304" pitchFamily="18" charset="0"/>
                        <a:ea typeface="Consolas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новые задачи добавляются автоматически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 / 11</a:t>
            </a:r>
            <a:endParaRPr lang="en-US" sz="9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МОДЕЛЬ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ML · почему DistilBERT</a:t>
            </a:r>
            <a:endParaRPr lang="en-US" sz="3000" dirty="0">
              <a:latin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943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BERT-архитектура — стандарт для классификации текстов</a:t>
            </a:r>
            <a:endParaRPr lang="en-US" sz="1600" dirty="0">
              <a:latin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DistilBERT: 66M параметров против 110M у BERT</a:t>
            </a:r>
            <a:endParaRPr lang="en-US" sz="1600" dirty="0">
              <a:latin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97% качества BERT при 60% скорости</a:t>
            </a:r>
            <a:endParaRPr lang="en-US" sz="1600" dirty="0">
              <a:latin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Классификационная голова: 768 → 384 → N классов</a:t>
            </a:r>
            <a:endParaRPr lang="en-US" sz="1600" dirty="0">
              <a:latin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Fine-tune на нашем размеченном датасете</a:t>
            </a:r>
            <a:endParaRPr lang="en-US" sz="1600" dirty="0">
              <a:latin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0" y="1554480"/>
            <a:ext cx="4663440" cy="45720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1554480"/>
            <a:ext cx="73152" cy="4572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0" y="16916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Архитектура модели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178040" y="2103120"/>
            <a:ext cx="41605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69480" y="2103120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title [SEP] abstract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178040" y="2560320"/>
            <a:ext cx="41605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69480" y="2560320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DistilBERT-base-uncased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178040" y="3017520"/>
            <a:ext cx="41605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69480" y="3017520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CLS-токен → вектор 768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178040" y="3474720"/>
            <a:ext cx="41605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69480" y="3474720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Dropout(0.3)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178040" y="3931920"/>
            <a:ext cx="41605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9480" y="3931920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Linear(768 → 384) + GELU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178040" y="4389120"/>
            <a:ext cx="41605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9480" y="4389120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Dropout(0.15)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178040" y="4846320"/>
            <a:ext cx="41605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69480" y="4846320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Linear(384 → N классов)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178040" y="5303520"/>
            <a:ext cx="41605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69480" y="5303520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softmax → tag + confidence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CyberArXiv · Май 2026</a:t>
            </a:r>
            <a:endParaRPr lang="en-US" sz="900" dirty="0">
              <a:latin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 / 11</a:t>
            </a:r>
            <a:endParaRPr lang="en-US" sz="9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ОБУЧЕНИЕ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ML · как учили модель</a:t>
            </a:r>
            <a:endParaRPr lang="en-US" sz="3000" dirty="0">
              <a:latin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Датасет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108960" y="1851660"/>
            <a:ext cx="0" cy="0"/>
          </a:xfrm>
          <a:prstGeom prst="line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3108960" y="16002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~1.6k статей, размечено другой командой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108813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03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Фильтрация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108960" y="2354580"/>
            <a:ext cx="0" cy="0"/>
          </a:xfrm>
          <a:prstGeom prst="line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3108960" y="21031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confidence ≥ medium, ≥ 2 примера на класс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0080" y="2606040"/>
            <a:ext cx="108813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06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Train/Val/Test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108960" y="2857500"/>
            <a:ext cx="0" cy="0"/>
          </a:xfrm>
          <a:prstGeom prst="line">
            <a:avLst/>
          </a:prstGeom>
          <a:noFill/>
          <a:ln/>
        </p:spPr>
      </p:sp>
      <p:sp>
        <p:nvSpPr>
          <p:cNvPr id="14" name="Text 12"/>
          <p:cNvSpPr/>
          <p:nvPr/>
        </p:nvSpPr>
        <p:spPr>
          <a:xfrm>
            <a:off x="3108960" y="26060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80 / 10 / 10, стратификация по классам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0080" y="3108960"/>
            <a:ext cx="108813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108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Токенизатор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108960" y="3360420"/>
            <a:ext cx="0" cy="0"/>
          </a:xfrm>
          <a:prstGeom prst="line">
            <a:avLst/>
          </a:prstGeom>
          <a:noFill/>
          <a:ln/>
        </p:spPr>
      </p:sp>
      <p:sp>
        <p:nvSpPr>
          <p:cNvPr id="18" name="Text 16"/>
          <p:cNvSpPr/>
          <p:nvPr/>
        </p:nvSpPr>
        <p:spPr>
          <a:xfrm>
            <a:off x="3108960" y="31089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AutoTokenizer (transformers)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0080" y="3611880"/>
            <a:ext cx="108813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611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Оптимизатор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108960" y="3863340"/>
            <a:ext cx="0" cy="0"/>
          </a:xfrm>
          <a:prstGeom prst="line">
            <a:avLst/>
          </a:prstGeom>
          <a:noFill/>
          <a:ln/>
        </p:spPr>
      </p:sp>
      <p:sp>
        <p:nvSpPr>
          <p:cNvPr id="22" name="Text 20"/>
          <p:cNvSpPr/>
          <p:nvPr/>
        </p:nvSpPr>
        <p:spPr>
          <a:xfrm>
            <a:off x="3108960" y="3611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AdamW · lr 1e-4 → 1e-5 · weight_decay 0.01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" y="4114800"/>
            <a:ext cx="108813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114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Scheduler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108960" y="4366260"/>
            <a:ext cx="0" cy="0"/>
          </a:xfrm>
          <a:prstGeom prst="line">
            <a:avLst/>
          </a:prstGeom>
          <a:noFill/>
          <a:ln/>
        </p:spPr>
      </p:sp>
      <p:sp>
        <p:nvSpPr>
          <p:cNvPr id="26" name="Text 24"/>
          <p:cNvSpPr/>
          <p:nvPr/>
        </p:nvSpPr>
        <p:spPr>
          <a:xfrm>
            <a:off x="3108960" y="41148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linear warmup 10% + decay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40080" y="4617720"/>
            <a:ext cx="108813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617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Эпохи · batch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108960" y="4869180"/>
            <a:ext cx="0" cy="0"/>
          </a:xfrm>
          <a:prstGeom prst="line">
            <a:avLst/>
          </a:prstGeom>
          <a:noFill/>
          <a:ln/>
        </p:spPr>
      </p:sp>
      <p:sp>
        <p:nvSpPr>
          <p:cNvPr id="30" name="Text 28"/>
          <p:cNvSpPr/>
          <p:nvPr/>
        </p:nvSpPr>
        <p:spPr>
          <a:xfrm>
            <a:off x="3108960" y="46177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40 + 20 эпох · batch 64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40080" y="5120640"/>
            <a:ext cx="108813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5120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Чекпоинт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108960" y="5372100"/>
            <a:ext cx="0" cy="0"/>
          </a:xfrm>
          <a:prstGeom prst="line">
            <a:avLst/>
          </a:prstGeom>
          <a:noFill/>
          <a:ln/>
        </p:spPr>
      </p:sp>
      <p:sp>
        <p:nvSpPr>
          <p:cNvPr id="34" name="Text 32"/>
          <p:cNvSpPr/>
          <p:nvPr/>
        </p:nvSpPr>
        <p:spPr>
          <a:xfrm>
            <a:off x="3108960" y="51206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.pt с cfg + classes + state_dict, лучший val_accuracy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40080" y="5623560"/>
            <a:ext cx="108813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 / 11</a:t>
            </a:r>
            <a:endParaRPr lang="en-US" sz="900" dirty="0">
              <a:latin typeface="Times New Roman" panose="02020603050405020304" pitchFamily="18" charset="0"/>
            </a:endParaRP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152686F-E74F-4A91-9F42-777ED50BC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7198" y="1939267"/>
            <a:ext cx="5784802" cy="29794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АНАЛИТИКА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Обновлённая аналитика</a:t>
            </a:r>
            <a:endParaRPr lang="en-US" sz="3000" dirty="0">
              <a:latin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Pie chart (источники)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11880" y="19659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>
              <a:latin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023360" y="1965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Гистограмма по источникам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2514600"/>
            <a:ext cx="65836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514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Pie chart (теги)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11880" y="25146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>
              <a:latin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023360" y="2514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Гистограмма по keyword-тегам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3063240"/>
            <a:ext cx="65836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63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Cross-tab таблица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11880" y="30632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>
              <a:latin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023360" y="3063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Keyword vs ML по задаче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611880"/>
            <a:ext cx="65836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611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—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023360" y="3611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Распределение</a:t>
            </a:r>
            <a:r>
              <a:rPr lang="en-US" sz="1200" b="1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уверенности</a:t>
            </a:r>
            <a:r>
              <a:rPr lang="en-US" sz="1200" b="1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lang="en-US" sz="1200" b="1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ML-</a:t>
            </a:r>
            <a:r>
              <a:rPr lang="en-US" sz="1200" b="1" dirty="0" err="1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задаче</a:t>
            </a:r>
            <a:endParaRPr lang="en-US" sz="1200" b="1" dirty="0">
              <a:solidFill>
                <a:srgbClr val="11182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0080" y="4160520"/>
            <a:ext cx="65836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160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—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40080" y="4709160"/>
            <a:ext cx="65836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709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—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023360" y="4160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Выбор ML-задачи в таблице и аналитике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40080" y="5257800"/>
            <a:ext cx="65836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52360" y="1508760"/>
            <a:ext cx="3931920" cy="4114800"/>
          </a:xfrm>
          <a:prstGeom prst="rect">
            <a:avLst/>
          </a:prstGeom>
          <a:solidFill>
            <a:srgbClr val="EEF2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1812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КЛЮЧЕВАЯ МЕТРИКА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818120" y="20116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Confidence по задаче</a:t>
            </a:r>
            <a:endParaRPr lang="en-US" sz="2200" dirty="0">
              <a:latin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818120" y="2697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Распределение уверенности модели отдельно для каждой ML-задачи.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818120" y="3657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Позволяет выявить: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818120" y="393192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статьи на границе классов</a:t>
            </a:r>
            <a:endParaRPr lang="en-US" sz="1200" dirty="0">
              <a:latin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деградацию модели</a:t>
            </a:r>
            <a:endParaRPr lang="en-US" sz="1200" dirty="0">
              <a:latin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классы с нехваткой данных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 / 11</a:t>
            </a:r>
            <a:endParaRPr lang="en-US" sz="9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ДЭШБОРД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Аналитика: графики</a:t>
            </a:r>
            <a:endParaRPr lang="en-US" sz="3000" dirty="0">
              <a:latin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36118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5" name="Image 0" descr="/home/claude/assets/chart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554480"/>
            <a:ext cx="3520440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0" y="1508760"/>
            <a:ext cx="36118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1" descr="/home/claude/assets/chart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17720" y="1554480"/>
            <a:ext cx="3520440" cy="22860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549640" y="1508760"/>
            <a:ext cx="36118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9" name="Image 2" descr="/home/claude/assets/chart3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95360" y="1554480"/>
            <a:ext cx="3520440" cy="22860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94360" y="3977640"/>
            <a:ext cx="5257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1" name="Image 3" descr="/home/claude/assets/chart4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0080" y="4023360"/>
            <a:ext cx="5166360" cy="228600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6309360" y="3977640"/>
            <a:ext cx="5257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3" name="Image 4" descr="/home/claude/assets/chart5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55080" y="4023360"/>
            <a:ext cx="5166360" cy="22860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 / 11</a:t>
            </a:r>
            <a:endParaRPr lang="en-US" sz="9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Итоги</a:t>
            </a:r>
            <a:endParaRPr lang="en-US" sz="3000" dirty="0">
              <a:latin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60120" y="16916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Коллекторы</a:t>
            </a:r>
            <a:endParaRPr lang="en-US" sz="1800" dirty="0">
              <a:latin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931920" y="169164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YAML-плагины — новый источник без изменения кода</a:t>
            </a:r>
            <a:endParaRPr lang="en-US" sz="1500" dirty="0">
              <a:latin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108813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5603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Хранилище</a:t>
            </a:r>
            <a:endParaRPr lang="en-US" sz="1800" dirty="0">
              <a:latin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931920" y="256032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Parquet вместо RDS </a:t>
            </a:r>
            <a:endParaRPr lang="en-US" sz="1500" dirty="0">
              <a:latin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0080" y="3429000"/>
            <a:ext cx="108813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4290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ML-задачи</a:t>
            </a:r>
            <a:endParaRPr lang="en-US" sz="1800" dirty="0">
              <a:latin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931920" y="342900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Каждая задача пишет в отдельную колонку — независимо</a:t>
            </a:r>
            <a:endParaRPr lang="en-US" sz="1500" dirty="0">
              <a:latin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0080" y="4297680"/>
            <a:ext cx="108813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2976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Аналитика</a:t>
            </a:r>
            <a:endParaRPr lang="en-US" sz="1800" dirty="0">
              <a:latin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931920" y="429768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Гистограммы, confidence по задаче, Keyword vs ML</a:t>
            </a:r>
            <a:endParaRPr lang="en-US" sz="1500" dirty="0">
              <a:latin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0080" y="5166360"/>
            <a:ext cx="108813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51663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GUI</a:t>
            </a:r>
            <a:endParaRPr lang="en-US" sz="1800" dirty="0">
              <a:latin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931920" y="516636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Прогресс классификации, удаление статей, авто-выбор задачи</a:t>
            </a:r>
            <a:endParaRPr lang="en-US" sz="1500" dirty="0">
              <a:latin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" y="6035040"/>
            <a:ext cx="108813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 / 11</a:t>
            </a:r>
            <a:endParaRPr lang="en-US" sz="9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ВОПРОСЫ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48539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i="1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Спасибо</a:t>
            </a:r>
            <a:r>
              <a:rPr lang="en-US" sz="3200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за</a:t>
            </a:r>
            <a:r>
              <a:rPr lang="en-US" sz="3200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внимание</a:t>
            </a:r>
            <a:r>
              <a:rPr lang="en-US" sz="3200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!</a:t>
            </a:r>
            <a:endParaRPr lang="en-US" sz="3200" dirty="0">
              <a:latin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3383280"/>
            <a:ext cx="4572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5661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Если есть </a:t>
            </a:r>
            <a:r>
              <a:rPr lang="en-US" sz="2000" dirty="0" err="1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вопросы</a:t>
            </a:r>
            <a:r>
              <a:rPr lang="en-US" sz="2000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—</a:t>
            </a:r>
            <a:endParaRPr lang="en-US" sz="200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готовы на них ответить.</a:t>
            </a:r>
            <a:endParaRPr 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47548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>
              <a:latin typeface="Times New Roman" panose="02020603050405020304" pitchFamily="18" charset="0"/>
            </a:endParaRPr>
          </a:p>
        </p:txBody>
      </p:sp>
      <p:pic>
        <p:nvPicPr>
          <p:cNvPr id="7" name="Image 0" descr="/home/claude/assets/frien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83454" y="1325880"/>
            <a:ext cx="5437986" cy="42062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 / 11</a:t>
            </a:r>
            <a:endParaRPr lang="en-US" sz="9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0" y="2468880"/>
            <a:ext cx="12161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400" dirty="0">
              <a:latin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0" y="384048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>
              <a:latin typeface="Times New Roman" panose="02020603050405020304" pitchFamily="18" charset="0"/>
            </a:endParaRPr>
          </a:p>
        </p:txBody>
      </p:sp>
      <p:pic>
        <p:nvPicPr>
          <p:cNvPr id="6" name="Image 0" descr="/home/alexkondrol/Downloads/image.jpg">
            <a:extLst>
              <a:ext uri="{FF2B5EF4-FFF2-40B4-BE49-F238E27FC236}">
                <a16:creationId xmlns:a16="http://schemas.microsoft.com/office/drawing/2014/main" id="{A39AD894-84F7-30A4-91C2-E6B40C615E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607</Words>
  <Application>Microsoft Office PowerPoint</Application>
  <PresentationFormat>Широкоэкранный</PresentationFormat>
  <Paragraphs>171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CyberArXiv — отчёт</dc:title>
  <dc:subject>PptxGenJS Presentation</dc:subject>
  <dc:creator>PptxGenJS</dc:creator>
  <cp:lastModifiedBy>Трембачев Владимир</cp:lastModifiedBy>
  <cp:revision>12</cp:revision>
  <dcterms:created xsi:type="dcterms:W3CDTF">2026-05-02T07:50:13Z</dcterms:created>
  <dcterms:modified xsi:type="dcterms:W3CDTF">2026-05-15T20:42:31Z</dcterms:modified>
</cp:coreProperties>
</file>