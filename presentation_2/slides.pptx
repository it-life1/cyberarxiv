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schemas.openxmlformats.org/officeDocument/2006/relationships/slide" Target="slides/slide2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2:notes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" name="Google Shape;35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" name="Google Shape;49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" name="Google Shape;77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" name="Google Shape;89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1" name="Google Shape;101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3" name="Google Shape;113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0" name="Google Shape;160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6" name="Google Shape;186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8" name="Google Shape;198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4" name="Google Shape;224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6" name="Google Shape;236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6" name="Google Shape;266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2" name="Google Shape;292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1" name="Google Shape;301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0" name="Google Shape;310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3" name="Google Shape;323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7" name="Google Shape;347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0" name="Google Shape;380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9" name="Google Shape;419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CyberArXiv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3"/>
          <p:cNvSpPr/>
          <p:nvPr/>
        </p:nvSpPr>
        <p:spPr>
          <a:xfrm>
            <a:off x="457200" y="18745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Система сбора и классификации научных статей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по информационной безопасности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" name="Google Shape;14;p3"/>
          <p:cNvCxnSpPr/>
          <p:nvPr/>
        </p:nvCxnSpPr>
        <p:spPr>
          <a:xfrm>
            <a:off x="457200" y="2926080"/>
            <a:ext cx="2743200" cy="0"/>
          </a:xfrm>
          <a:prstGeom prst="straightConnector1">
            <a:avLst/>
          </a:prstGeom>
          <a:noFill/>
          <a:ln cap="flat" cmpd="sng" w="19050">
            <a:solidFill>
              <a:srgbClr val="2E5C8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" name="Google Shape;15;p3"/>
          <p:cNvSpPr/>
          <p:nvPr/>
        </p:nvSpPr>
        <p:spPr>
          <a:xfrm>
            <a:off x="457200" y="310896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Команда: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"/>
          <p:cNvSpPr/>
          <p:nvPr/>
        </p:nvSpPr>
        <p:spPr>
          <a:xfrm>
            <a:off x="457200" y="333756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Звонов · Кондрашкин · Долгов · Трембачёв · Мозгов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Стек: R, Python, DuckDB, FastAPI, PyTorch, Docker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/>
        </p:nvSpPr>
        <p:spPr>
          <a:xfrm>
            <a:off x="457200" y="204893"/>
            <a:ext cx="6580294" cy="8043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Почему наша классификация лучше, чем у arXiv</a:t>
            </a:r>
            <a:endParaRPr b="1" sz="2200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solidFill>
            <a:srgbClr val="FAFAFA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/>
          <p:nvPr/>
        </p:nvSpPr>
        <p:spPr>
          <a:xfrm>
            <a:off x="502510" y="1280185"/>
            <a:ext cx="210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None/>
            </a:pPr>
            <a:r>
              <a:rPr lang="en-US" sz="1100">
                <a:solidFill>
                  <a:schemeClr val="dk1"/>
                </a:solidFill>
              </a:rPr>
              <a:t>arXiv использует общие категории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2743200" y="1280160"/>
            <a:ext cx="5852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None/>
            </a:pPr>
            <a:r>
              <a:rPr lang="en-US" sz="1100">
                <a:solidFill>
                  <a:schemeClr val="dk1"/>
                </a:solidFill>
              </a:rPr>
              <a:t>У нас специализированные класса 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457200" y="2174575"/>
            <a:ext cx="8229600" cy="457200"/>
          </a:xfrm>
          <a:prstGeom prst="rect">
            <a:avLst/>
          </a:prstGeom>
          <a:solidFill>
            <a:srgbClr val="FAFAFA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594360" y="2174575"/>
            <a:ext cx="210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arXiv → «чёрный ящик»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2743200" y="2174575"/>
            <a:ext cx="5852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None/>
            </a:pPr>
            <a:r>
              <a:rPr lang="en-US" sz="1100">
                <a:solidFill>
                  <a:schemeClr val="dk1"/>
                </a:solidFill>
              </a:rPr>
              <a:t>У нас явные правила (keywords.yml)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457200" y="3068964"/>
            <a:ext cx="8229600" cy="457200"/>
          </a:xfrm>
          <a:prstGeom prst="rect">
            <a:avLst/>
          </a:prstGeom>
          <a:solidFill>
            <a:srgbClr val="FAFAFA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594360" y="3068964"/>
            <a:ext cx="210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arXiv → фиксированная структура категорий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2736135" y="3068964"/>
            <a:ext cx="5852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None/>
            </a:pPr>
            <a:r>
              <a:rPr lang="en-US" sz="1100">
                <a:solidFill>
                  <a:schemeClr val="dk1"/>
                </a:solidFill>
              </a:rPr>
              <a:t>У нас легко добавить новый класс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32" name="Google Shape;32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7150" y="4019725"/>
            <a:ext cx="7909576" cy="38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Цель и изменения с этапа 1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" name="Google Shape;39;p5"/>
          <p:cNvCxnSpPr/>
          <p:nvPr/>
        </p:nvCxnSpPr>
        <p:spPr>
          <a:xfrm>
            <a:off x="457200" y="105156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5"/>
          <p:cNvSpPr/>
          <p:nvPr/>
        </p:nvSpPr>
        <p:spPr>
          <a:xfrm>
            <a:off x="457200" y="123444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C8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2E5C8A"/>
                </a:solidFill>
                <a:latin typeface="Calibri"/>
                <a:ea typeface="Calibri"/>
                <a:cs typeface="Calibri"/>
                <a:sym typeface="Calibri"/>
              </a:rPr>
              <a:t>Цель: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457200" y="1508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собирать свежие статьи с arXiv по теме ИБ, хранить локально, размечать тематическими метками и давать удобный интерфейс для анализа.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457200" y="2194560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Что было на этапе 1: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457200" y="2468880"/>
            <a:ext cx="38404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концепт и архитектура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первая версия сбора (~100 строк)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только keyword-классификация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один docker-контейнер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4663440" y="2194560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C8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2E5C8A"/>
                </a:solidFill>
                <a:latin typeface="Calibri"/>
                <a:ea typeface="Calibri"/>
                <a:cs typeface="Calibri"/>
                <a:sym typeface="Calibri"/>
              </a:rPr>
              <a:t>Что добавили на этапе 2: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4663440" y="2468880"/>
            <a:ext cx="38404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полноценный ETL с upsert и транзакцией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обучили DistilBERT-классификатор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отдельный ML-сервис на FastAPI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Shiny GUI с 6 вкладками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compose с 3 сервисами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8412480" y="4892040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Архитектура: три сервиса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" name="Google Shape;53;p6"/>
          <p:cNvCxnSpPr/>
          <p:nvPr/>
        </p:nvCxnSpPr>
        <p:spPr>
          <a:xfrm>
            <a:off x="457200" y="105156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" name="Google Shape;54;p6"/>
          <p:cNvSpPr/>
          <p:nvPr/>
        </p:nvSpPr>
        <p:spPr>
          <a:xfrm>
            <a:off x="457200" y="1554480"/>
            <a:ext cx="1463040" cy="685800"/>
          </a:xfrm>
          <a:prstGeom prst="rect">
            <a:avLst/>
          </a:prstGeom>
          <a:solidFill>
            <a:srgbClr val="FAFAFA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6"/>
          <p:cNvSpPr/>
          <p:nvPr/>
        </p:nvSpPr>
        <p:spPr>
          <a:xfrm>
            <a:off x="457200" y="160020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arXiv API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6"/>
          <p:cNvSpPr/>
          <p:nvPr/>
        </p:nvSpPr>
        <p:spPr>
          <a:xfrm>
            <a:off x="457200" y="1883664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источник данных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6"/>
          <p:cNvSpPr/>
          <p:nvPr/>
        </p:nvSpPr>
        <p:spPr>
          <a:xfrm>
            <a:off x="2194560" y="1554480"/>
            <a:ext cx="2011680" cy="685800"/>
          </a:xfrm>
          <a:prstGeom prst="rect">
            <a:avLst/>
          </a:prstGeom>
          <a:solidFill>
            <a:srgbClr val="F0F4FA"/>
          </a:solidFill>
          <a:ln cap="flat" cmpd="sng" w="19050">
            <a:solidFill>
              <a:srgbClr val="2E5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6"/>
          <p:cNvSpPr/>
          <p:nvPr/>
        </p:nvSpPr>
        <p:spPr>
          <a:xfrm>
            <a:off x="2194560" y="160020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cyberarxiv (R)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6"/>
          <p:cNvSpPr/>
          <p:nvPr/>
        </p:nvSpPr>
        <p:spPr>
          <a:xfrm>
            <a:off x="2194560" y="1883664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ETL + GUI + БД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4663440" y="1554480"/>
            <a:ext cx="1828800" cy="685800"/>
          </a:xfrm>
          <a:prstGeom prst="rect">
            <a:avLst/>
          </a:prstGeom>
          <a:solidFill>
            <a:srgbClr val="FAFAFA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6"/>
          <p:cNvSpPr/>
          <p:nvPr/>
        </p:nvSpPr>
        <p:spPr>
          <a:xfrm>
            <a:off x="4663440" y="160020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cyberarxiv-ml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4663440" y="1883664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FastAPI + DistilBERT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6858000" y="1554480"/>
            <a:ext cx="1828800" cy="685800"/>
          </a:xfrm>
          <a:prstGeom prst="rect">
            <a:avLst/>
          </a:prstGeom>
          <a:solidFill>
            <a:srgbClr val="FAFAFA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6"/>
          <p:cNvSpPr/>
          <p:nvPr/>
        </p:nvSpPr>
        <p:spPr>
          <a:xfrm>
            <a:off x="6858000" y="160020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cyberarxiv-mlflow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6"/>
          <p:cNvSpPr/>
          <p:nvPr/>
        </p:nvSpPr>
        <p:spPr>
          <a:xfrm>
            <a:off x="6858000" y="1883664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трекинг обучения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" name="Google Shape;66;p6"/>
          <p:cNvCxnSpPr/>
          <p:nvPr/>
        </p:nvCxnSpPr>
        <p:spPr>
          <a:xfrm>
            <a:off x="1920240" y="1897380"/>
            <a:ext cx="274320" cy="0"/>
          </a:xfrm>
          <a:prstGeom prst="straightConnector1">
            <a:avLst/>
          </a:prstGeom>
          <a:noFill/>
          <a:ln cap="flat" cmpd="sng" w="1270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7" name="Google Shape;67;p6"/>
          <p:cNvCxnSpPr/>
          <p:nvPr/>
        </p:nvCxnSpPr>
        <p:spPr>
          <a:xfrm>
            <a:off x="4206240" y="1897380"/>
            <a:ext cx="457200" cy="0"/>
          </a:xfrm>
          <a:prstGeom prst="straightConnector1">
            <a:avLst/>
          </a:prstGeom>
          <a:noFill/>
          <a:ln cap="flat" cmpd="sng" w="1270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8" name="Google Shape;68;p6"/>
          <p:cNvCxnSpPr/>
          <p:nvPr/>
        </p:nvCxnSpPr>
        <p:spPr>
          <a:xfrm>
            <a:off x="6492240" y="1897380"/>
            <a:ext cx="365760" cy="0"/>
          </a:xfrm>
          <a:prstGeom prst="straightConnector1">
            <a:avLst/>
          </a:prstGeom>
          <a:noFill/>
          <a:ln cap="flat" cmpd="sng" w="1270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9" name="Google Shape;69;p6"/>
          <p:cNvSpPr/>
          <p:nvPr/>
        </p:nvSpPr>
        <p:spPr>
          <a:xfrm>
            <a:off x="2194560" y="2286000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:8000 / :3838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4663440" y="228600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:5001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6858000" y="228600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:5000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457200" y="292608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C8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2E5C8A"/>
                </a:solidFill>
                <a:latin typeface="Calibri"/>
                <a:ea typeface="Calibri"/>
                <a:cs typeface="Calibri"/>
                <a:sym typeface="Calibri"/>
              </a:rPr>
              <a:t>Хранение: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640080" y="3246120"/>
            <a:ext cx="8229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DuckDB - основная БД со статьями (./data/cyberarxiv.duckdb)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raw-data/*.rds - бэкап сырого ответа arXiv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models/model.pt - обученный чекпоинт, монтируется в ML-контейнер через volume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mlflow/ - SQLite и артефакты при запуске обучения (опционально)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8412480" y="4892040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Extract · сбор с arXiv API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" name="Google Shape;81;p7"/>
          <p:cNvCxnSpPr/>
          <p:nvPr/>
        </p:nvCxnSpPr>
        <p:spPr>
          <a:xfrm>
            <a:off x="457200" y="105156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" name="Google Shape;82;p7"/>
          <p:cNvSpPr/>
          <p:nvPr/>
        </p:nvSpPr>
        <p:spPr>
          <a:xfrm>
            <a:off x="457200" y="1280160"/>
            <a:ext cx="402336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httr2 - современный клиент HTTP в 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arXiv Atom API: GET /api/query?...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дефолтные рубрики: cs.CR, cs.NI, cs.LG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пагинация по 100 записей (лимит API)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retry ×3 с exp. backoff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timeout 60 секунд на запрос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Sys.sleep(0.3) между страницами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дедупликация по id между батчами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парсинг Atom XML через xml2</a:t>
            </a:r>
            <a:endParaRPr/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при ошибке - warning + прерывание, не падение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7"/>
          <p:cNvSpPr/>
          <p:nvPr/>
        </p:nvSpPr>
        <p:spPr>
          <a:xfrm>
            <a:off x="4754880" y="1280160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Consolas"/>
              <a:buNone/>
            </a:pPr>
            <a:r>
              <a:rPr b="1" lang="en-US" sz="10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R   get_arxiv_papers.R (фрагмент)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7"/>
          <p:cNvSpPr/>
          <p:nvPr/>
        </p:nvSpPr>
        <p:spPr>
          <a:xfrm>
            <a:off x="4754880" y="1554480"/>
            <a:ext cx="3931920" cy="292608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7"/>
          <p:cNvSpPr/>
          <p:nvPr/>
        </p:nvSpPr>
        <p:spPr>
          <a:xfrm>
            <a:off x="4864608" y="1627632"/>
            <a:ext cx="3712464" cy="2816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papers &lt;- get_arxiv_papers(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query       = NULL,  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max_results = 500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rgbClr val="22222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httr2::request(base_url) |&gt;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req_url_query(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search_query = query,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start, max_results,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sortBy = "submittedDate"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) |&gt;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req_retry(max_tries = 3) |&gt;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req_timeout(seconds = 60) |&gt;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req_perform()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7"/>
          <p:cNvSpPr/>
          <p:nvPr/>
        </p:nvSpPr>
        <p:spPr>
          <a:xfrm>
            <a:off x="8412480" y="4892040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8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Extract · как это работает в GUI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" name="Google Shape;93;p8"/>
          <p:cNvCxnSpPr/>
          <p:nvPr/>
        </p:nvCxnSpPr>
        <p:spPr>
          <a:xfrm>
            <a:off x="457200" y="105156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8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Вкладка «Загрузка (ETL)» в Shiny: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8"/>
          <p:cNvSpPr/>
          <p:nvPr/>
        </p:nvSpPr>
        <p:spPr>
          <a:xfrm>
            <a:off x="457200" y="1645920"/>
            <a:ext cx="548640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[ сюда скриншот 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Shiny GUI - вкладка ETL с логом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8"/>
          <p:cNvSpPr/>
          <p:nvPr/>
        </p:nvSpPr>
        <p:spPr>
          <a:xfrm>
            <a:off x="6126480" y="1645920"/>
            <a:ext cx="256032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задаём max_results и query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жмём «Запустить ETL»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в реальном времени видим лог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после завершения - показ таблицы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галочка «с ML» - доп шаг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8"/>
          <p:cNvSpPr/>
          <p:nvPr/>
        </p:nvSpPr>
        <p:spPr>
          <a:xfrm>
            <a:off x="8412480" y="4892040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2373" y="1787273"/>
            <a:ext cx="5581227" cy="24625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9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Transform + Load · DuckDB с upsert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5" name="Google Shape;105;p9"/>
          <p:cNvCxnSpPr/>
          <p:nvPr/>
        </p:nvCxnSpPr>
        <p:spPr>
          <a:xfrm>
            <a:off x="457200" y="105156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" name="Google Shape;106;p9"/>
          <p:cNvSpPr/>
          <p:nvPr/>
        </p:nvSpPr>
        <p:spPr>
          <a:xfrm>
            <a:off x="457200" y="1280160"/>
            <a:ext cx="402336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DuckDB - embedded БД, как SQLite, но колоночная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одна таблица papers, 12 колонок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ключ - paper_id (arXiv ID без версии)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повторный запуск ETL - не дубли, а upsert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UPDATE только если updated_date новее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INSERT только новых (NOT EXISTS)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всё в одной транзакции - ROLLBACK при ошибке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индексы по paper_id, published_date, tag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"/>
          <p:cNvSpPr/>
          <p:nvPr/>
        </p:nvSpPr>
        <p:spPr>
          <a:xfrm>
            <a:off x="4754880" y="1280160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Consolas"/>
              <a:buNone/>
            </a:pPr>
            <a:r>
              <a:rPr b="1" lang="en-US" sz="10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SQL   save_publications.R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9"/>
          <p:cNvSpPr/>
          <p:nvPr/>
        </p:nvSpPr>
        <p:spPr>
          <a:xfrm>
            <a:off x="4754880" y="1554480"/>
            <a:ext cx="3931920" cy="292608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9"/>
          <p:cNvSpPr/>
          <p:nvPr/>
        </p:nvSpPr>
        <p:spPr>
          <a:xfrm>
            <a:off x="4864608" y="1627632"/>
            <a:ext cx="3712464" cy="2816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BEGIN TRANSACTION;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-- обновить существующие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UPDATE papers AS p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SET title = s.title, ...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FROM stg_papers AS 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WHERE p.paper_id = s.paper_id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AND s.updated_date &gt; p.updated_date;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-- вставить новые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INSERT INTO papers (...)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SELECT ... FROM stg_papers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WHERE NOT EXISTS (...);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COMMIT;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9"/>
          <p:cNvSpPr/>
          <p:nvPr/>
        </p:nvSpPr>
        <p:spPr>
          <a:xfrm>
            <a:off x="8412480" y="4892040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0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БД · схема и данные в таблице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7" name="Google Shape;117;p10"/>
          <p:cNvCxnSpPr/>
          <p:nvPr/>
        </p:nvCxnSpPr>
        <p:spPr>
          <a:xfrm>
            <a:off x="457200" y="105156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" name="Google Shape;118;p10"/>
          <p:cNvSpPr/>
          <p:nvPr/>
        </p:nvSpPr>
        <p:spPr>
          <a:xfrm>
            <a:off x="220134" y="1294722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C8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2E5C8A"/>
                </a:solidFill>
                <a:latin typeface="Calibri"/>
                <a:ea typeface="Calibri"/>
                <a:cs typeface="Calibri"/>
                <a:sym typeface="Calibri"/>
              </a:rPr>
              <a:t>Схема papers: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0"/>
          <p:cNvSpPr/>
          <p:nvPr/>
        </p:nvSpPr>
        <p:spPr>
          <a:xfrm>
            <a:off x="257388" y="1601893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paper_id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0"/>
          <p:cNvSpPr/>
          <p:nvPr/>
        </p:nvSpPr>
        <p:spPr>
          <a:xfrm>
            <a:off x="1811868" y="1601893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VARCHAR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0"/>
          <p:cNvSpPr/>
          <p:nvPr/>
        </p:nvSpPr>
        <p:spPr>
          <a:xfrm>
            <a:off x="3000588" y="1601893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arXiv ID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0"/>
          <p:cNvSpPr/>
          <p:nvPr/>
        </p:nvSpPr>
        <p:spPr>
          <a:xfrm>
            <a:off x="257388" y="1857925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title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0"/>
          <p:cNvSpPr/>
          <p:nvPr/>
        </p:nvSpPr>
        <p:spPr>
          <a:xfrm>
            <a:off x="1811868" y="1857925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VARCHAR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0"/>
          <p:cNvSpPr/>
          <p:nvPr/>
        </p:nvSpPr>
        <p:spPr>
          <a:xfrm>
            <a:off x="3000588" y="1857925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заголовок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0"/>
          <p:cNvSpPr/>
          <p:nvPr/>
        </p:nvSpPr>
        <p:spPr>
          <a:xfrm>
            <a:off x="257388" y="2379133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authors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0"/>
          <p:cNvSpPr/>
          <p:nvPr/>
        </p:nvSpPr>
        <p:spPr>
          <a:xfrm>
            <a:off x="1811868" y="2379133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VARCHAR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0"/>
          <p:cNvSpPr/>
          <p:nvPr/>
        </p:nvSpPr>
        <p:spPr>
          <a:xfrm>
            <a:off x="3000588" y="2379133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CSV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0"/>
          <p:cNvSpPr/>
          <p:nvPr/>
        </p:nvSpPr>
        <p:spPr>
          <a:xfrm>
            <a:off x="257388" y="2635165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abstract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0"/>
          <p:cNvSpPr/>
          <p:nvPr/>
        </p:nvSpPr>
        <p:spPr>
          <a:xfrm>
            <a:off x="1811868" y="2635165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VARCHAR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0"/>
          <p:cNvSpPr/>
          <p:nvPr/>
        </p:nvSpPr>
        <p:spPr>
          <a:xfrm>
            <a:off x="3000588" y="2635165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текст аннотации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0"/>
          <p:cNvSpPr/>
          <p:nvPr/>
        </p:nvSpPr>
        <p:spPr>
          <a:xfrm>
            <a:off x="257388" y="2891197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categories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0"/>
          <p:cNvSpPr/>
          <p:nvPr/>
        </p:nvSpPr>
        <p:spPr>
          <a:xfrm>
            <a:off x="1811868" y="2891197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VARCHAR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0"/>
          <p:cNvSpPr/>
          <p:nvPr/>
        </p:nvSpPr>
        <p:spPr>
          <a:xfrm>
            <a:off x="3000588" y="2891197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cs.CR, ...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0"/>
          <p:cNvSpPr/>
          <p:nvPr/>
        </p:nvSpPr>
        <p:spPr>
          <a:xfrm>
            <a:off x="257388" y="3147229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published_date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0"/>
          <p:cNvSpPr/>
          <p:nvPr/>
        </p:nvSpPr>
        <p:spPr>
          <a:xfrm>
            <a:off x="1811868" y="3147229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TIMESTAMP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0"/>
          <p:cNvSpPr/>
          <p:nvPr/>
        </p:nvSpPr>
        <p:spPr>
          <a:xfrm>
            <a:off x="3000588" y="3147229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дата arXiv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0"/>
          <p:cNvSpPr/>
          <p:nvPr/>
        </p:nvSpPr>
        <p:spPr>
          <a:xfrm>
            <a:off x="257388" y="3403261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updated_date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0"/>
          <p:cNvSpPr/>
          <p:nvPr/>
        </p:nvSpPr>
        <p:spPr>
          <a:xfrm>
            <a:off x="1811868" y="3403261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TIMESTAMP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0"/>
          <p:cNvSpPr/>
          <p:nvPr/>
        </p:nvSpPr>
        <p:spPr>
          <a:xfrm>
            <a:off x="3000588" y="3403261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версия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0"/>
          <p:cNvSpPr/>
          <p:nvPr/>
        </p:nvSpPr>
        <p:spPr>
          <a:xfrm>
            <a:off x="257388" y="3659293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ingested_at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0"/>
          <p:cNvSpPr/>
          <p:nvPr/>
        </p:nvSpPr>
        <p:spPr>
          <a:xfrm>
            <a:off x="1811868" y="3659293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TIMESTAMP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0"/>
          <p:cNvSpPr/>
          <p:nvPr/>
        </p:nvSpPr>
        <p:spPr>
          <a:xfrm>
            <a:off x="3000588" y="3659293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когда мы забрали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0"/>
          <p:cNvSpPr/>
          <p:nvPr/>
        </p:nvSpPr>
        <p:spPr>
          <a:xfrm>
            <a:off x="257388" y="3915325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tag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0"/>
          <p:cNvSpPr/>
          <p:nvPr/>
        </p:nvSpPr>
        <p:spPr>
          <a:xfrm>
            <a:off x="1811868" y="3915325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VARCHAR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0"/>
          <p:cNvSpPr/>
          <p:nvPr/>
        </p:nvSpPr>
        <p:spPr>
          <a:xfrm>
            <a:off x="3000588" y="3915325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keyword-класс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0"/>
          <p:cNvSpPr/>
          <p:nvPr/>
        </p:nvSpPr>
        <p:spPr>
          <a:xfrm>
            <a:off x="257388" y="4171357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ml_tag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0"/>
          <p:cNvSpPr/>
          <p:nvPr/>
        </p:nvSpPr>
        <p:spPr>
          <a:xfrm>
            <a:off x="1811868" y="4171357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VARCHAR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0"/>
          <p:cNvSpPr/>
          <p:nvPr/>
        </p:nvSpPr>
        <p:spPr>
          <a:xfrm>
            <a:off x="3000588" y="4171357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DistilBERT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0"/>
          <p:cNvSpPr/>
          <p:nvPr/>
        </p:nvSpPr>
        <p:spPr>
          <a:xfrm>
            <a:off x="257388" y="4427389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ml_confidence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0"/>
          <p:cNvSpPr/>
          <p:nvPr/>
        </p:nvSpPr>
        <p:spPr>
          <a:xfrm>
            <a:off x="1811868" y="4427389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DOUBLE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0"/>
          <p:cNvSpPr/>
          <p:nvPr/>
        </p:nvSpPr>
        <p:spPr>
          <a:xfrm>
            <a:off x="3000588" y="4427389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0.0–1.0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0"/>
          <p:cNvSpPr/>
          <p:nvPr/>
        </p:nvSpPr>
        <p:spPr>
          <a:xfrm>
            <a:off x="4846320" y="1280160"/>
            <a:ext cx="384048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[ сюда скриншот 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Shiny - вкладка «Таблица статей»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0"/>
          <p:cNvSpPr/>
          <p:nvPr/>
        </p:nvSpPr>
        <p:spPr>
          <a:xfrm>
            <a:off x="8412480" y="4892040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0"/>
          <p:cNvSpPr/>
          <p:nvPr/>
        </p:nvSpPr>
        <p:spPr>
          <a:xfrm>
            <a:off x="257388" y="2123101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</a:t>
            </a:r>
            <a:endParaRPr/>
          </a:p>
        </p:txBody>
      </p:sp>
      <p:sp>
        <p:nvSpPr>
          <p:cNvPr id="155" name="Google Shape;155;p10"/>
          <p:cNvSpPr/>
          <p:nvPr/>
        </p:nvSpPr>
        <p:spPr>
          <a:xfrm>
            <a:off x="1811868" y="2141389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VARCHAR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0"/>
          <p:cNvSpPr/>
          <p:nvPr/>
        </p:nvSpPr>
        <p:spPr>
          <a:xfrm>
            <a:off x="3000588" y="2141389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Ссылка на статью</a:t>
            </a:r>
            <a:endParaRPr i="1" sz="10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" name="Google Shape;15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68988" y="1563873"/>
            <a:ext cx="4585668" cy="2142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1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Keyword-классификатор · 17 классов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4" name="Google Shape;164;p11"/>
          <p:cNvCxnSpPr/>
          <p:nvPr/>
        </p:nvCxnSpPr>
        <p:spPr>
          <a:xfrm>
            <a:off x="457200" y="105156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5" name="Google Shape;165;p11"/>
          <p:cNvSpPr/>
          <p:nvPr/>
        </p:nvSpPr>
        <p:spPr>
          <a:xfrm>
            <a:off x="457200" y="1280160"/>
            <a:ext cx="402336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каждому классу - список ~25 ключевых фраз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ищем вхождения regex \b&lt;phrase&gt;\b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score класса = Σ len(phrase) × 0.1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длинные фразы весят больше, чем короткие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выбираем класс с max score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ничья - первый по алфавиту (детерминированно)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если нигде не нашли - tag = "other"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плюсы: прозрачно, быстро, объяснимо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минусы: не ловит синонимы и перефразы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1"/>
          <p:cNvSpPr/>
          <p:nvPr/>
        </p:nvSpPr>
        <p:spPr>
          <a:xfrm>
            <a:off x="4754880" y="1280160"/>
            <a:ext cx="3931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C8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2E5C8A"/>
                </a:solidFill>
                <a:latin typeface="Calibri"/>
                <a:ea typeface="Calibri"/>
                <a:cs typeface="Calibri"/>
                <a:sym typeface="Calibri"/>
              </a:rPr>
              <a:t>Примеры классов: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1"/>
          <p:cNvSpPr/>
          <p:nvPr/>
        </p:nvSpPr>
        <p:spPr>
          <a:xfrm>
            <a:off x="4754880" y="1600200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Malware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1"/>
          <p:cNvSpPr/>
          <p:nvPr/>
        </p:nvSpPr>
        <p:spPr>
          <a:xfrm>
            <a:off x="6355080" y="1600200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ransomware, trojan, botnet...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1"/>
          <p:cNvSpPr/>
          <p:nvPr/>
        </p:nvSpPr>
        <p:spPr>
          <a:xfrm>
            <a:off x="4754880" y="1947672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Cryptography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1"/>
          <p:cNvSpPr/>
          <p:nvPr/>
        </p:nvSpPr>
        <p:spPr>
          <a:xfrm>
            <a:off x="6355080" y="1947672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encryption, RSA, TLS...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1"/>
          <p:cNvSpPr/>
          <p:nvPr/>
        </p:nvSpPr>
        <p:spPr>
          <a:xfrm>
            <a:off x="4754880" y="2295144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Vulnerability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1"/>
          <p:cNvSpPr/>
          <p:nvPr/>
        </p:nvSpPr>
        <p:spPr>
          <a:xfrm>
            <a:off x="6355080" y="2295144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CVE, zero-day, CVSS...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1"/>
          <p:cNvSpPr/>
          <p:nvPr/>
        </p:nvSpPr>
        <p:spPr>
          <a:xfrm>
            <a:off x="4754880" y="2642616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Exploit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1"/>
          <p:cNvSpPr/>
          <p:nvPr/>
        </p:nvSpPr>
        <p:spPr>
          <a:xfrm>
            <a:off x="6355080" y="2642616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RCE, privilege escalation...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1"/>
          <p:cNvSpPr/>
          <p:nvPr/>
        </p:nvSpPr>
        <p:spPr>
          <a:xfrm>
            <a:off x="4754880" y="2990088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Social Engineering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1"/>
          <p:cNvSpPr/>
          <p:nvPr/>
        </p:nvSpPr>
        <p:spPr>
          <a:xfrm>
            <a:off x="6355080" y="2990088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phishing, vishing, BEC...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1"/>
          <p:cNvSpPr/>
          <p:nvPr/>
        </p:nvSpPr>
        <p:spPr>
          <a:xfrm>
            <a:off x="4754880" y="3337560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Network Attack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1"/>
          <p:cNvSpPr/>
          <p:nvPr/>
        </p:nvSpPr>
        <p:spPr>
          <a:xfrm>
            <a:off x="6355080" y="3337560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DDoS, MITM, port scan...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1"/>
          <p:cNvSpPr/>
          <p:nvPr/>
        </p:nvSpPr>
        <p:spPr>
          <a:xfrm>
            <a:off x="4754880" y="3685032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ML/AI Security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1"/>
          <p:cNvSpPr/>
          <p:nvPr/>
        </p:nvSpPr>
        <p:spPr>
          <a:xfrm>
            <a:off x="6355080" y="3685032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adversarial, data poisoning...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1"/>
          <p:cNvSpPr/>
          <p:nvPr/>
        </p:nvSpPr>
        <p:spPr>
          <a:xfrm>
            <a:off x="4754880" y="4032504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Privacy Protection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1"/>
          <p:cNvSpPr/>
          <p:nvPr/>
        </p:nvSpPr>
        <p:spPr>
          <a:xfrm>
            <a:off x="6355080" y="4032504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GDPR, anonymization, k-anonymity...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1"/>
          <p:cNvSpPr/>
          <p:nvPr/>
        </p:nvSpPr>
        <p:spPr>
          <a:xfrm>
            <a:off x="8412480" y="4892040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Keyword · где достаточно и где не хватает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0" name="Google Shape;190;p12"/>
          <p:cNvCxnSpPr/>
          <p:nvPr/>
        </p:nvCxnSpPr>
        <p:spPr>
          <a:xfrm>
            <a:off x="457200" y="105156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1" name="Google Shape;191;p12"/>
          <p:cNvSpPr/>
          <p:nvPr/>
        </p:nvSpPr>
        <p:spPr>
          <a:xfrm>
            <a:off x="457200" y="128016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C8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2E5C8A"/>
                </a:solidFill>
                <a:latin typeface="Calibri"/>
                <a:ea typeface="Calibri"/>
                <a:cs typeface="Calibri"/>
                <a:sym typeface="Calibri"/>
              </a:rPr>
              <a:t>Хорошо работает, если в тексте: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2"/>
          <p:cNvSpPr/>
          <p:nvPr/>
        </p:nvSpPr>
        <p:spPr>
          <a:xfrm>
            <a:off x="640080" y="155448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прямо упомянут термин ("ransomware", "CVE-2024-...", "TLS 1.3")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стандартная терминология, без сленга и метафор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2"/>
          <p:cNvSpPr/>
          <p:nvPr/>
        </p:nvSpPr>
        <p:spPr>
          <a:xfrm>
            <a:off x="457200" y="251460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C8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2E5C8A"/>
                </a:solidFill>
                <a:latin typeface="Calibri"/>
                <a:ea typeface="Calibri"/>
                <a:cs typeface="Calibri"/>
                <a:sym typeface="Calibri"/>
              </a:rPr>
              <a:t>Проигрывает, когда: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2"/>
          <p:cNvSpPr/>
          <p:nvPr/>
        </p:nvSpPr>
        <p:spPr>
          <a:xfrm>
            <a:off x="640080" y="278892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аннотация описывает явление своими словами без терминов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несколько тем в одной статье - выбирается только один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синонимы и новые понятия (LLM jailbreak, prompt injection)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ключевики пересекаются между классами (например "attack" встречается везде)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2"/>
          <p:cNvSpPr/>
          <p:nvPr/>
        </p:nvSpPr>
        <p:spPr>
          <a:xfrm>
            <a:off x="8412480" y="4892040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3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ML · почему DistilBERT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2" name="Google Shape;202;p13"/>
          <p:cNvCxnSpPr/>
          <p:nvPr/>
        </p:nvCxnSpPr>
        <p:spPr>
          <a:xfrm>
            <a:off x="457200" y="105156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3" name="Google Shape;203;p13"/>
          <p:cNvSpPr/>
          <p:nvPr/>
        </p:nvSpPr>
        <p:spPr>
          <a:xfrm>
            <a:off x="457200" y="1280160"/>
            <a:ext cx="402336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BERT архитектура – стандарт для классификации текстов</a:t>
            </a:r>
            <a:endParaRPr sz="1200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DistilBERT: 66M параметров vs 110M у BERT</a:t>
            </a:r>
            <a:endParaRPr sz="1200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DistilBERT - имеет 97% понимания текстов по сравнению с BERT, но на 60% быстрее</a:t>
            </a:r>
            <a:endParaRPr sz="1200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классификационная голова: 768 → 384 → N классов</a:t>
            </a:r>
            <a:endParaRPr sz="1200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fine-tune по нашему размеченному датасету</a:t>
            </a:r>
            <a:endParaRPr sz="1200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3"/>
          <p:cNvSpPr/>
          <p:nvPr/>
        </p:nvSpPr>
        <p:spPr>
          <a:xfrm>
            <a:off x="4754880" y="1280160"/>
            <a:ext cx="3931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C8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2E5C8A"/>
                </a:solidFill>
                <a:latin typeface="Calibri"/>
                <a:ea typeface="Calibri"/>
                <a:cs typeface="Calibri"/>
                <a:sym typeface="Calibri"/>
              </a:rPr>
              <a:t>Архитектура модели: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3"/>
          <p:cNvSpPr/>
          <p:nvPr/>
        </p:nvSpPr>
        <p:spPr>
          <a:xfrm>
            <a:off x="4754880" y="1600200"/>
            <a:ext cx="3931920" cy="292608"/>
          </a:xfrm>
          <a:prstGeom prst="rect">
            <a:avLst/>
          </a:prstGeom>
          <a:solidFill>
            <a:srgbClr val="FAFAFA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3"/>
          <p:cNvSpPr/>
          <p:nvPr/>
        </p:nvSpPr>
        <p:spPr>
          <a:xfrm>
            <a:off x="4846320" y="1600200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title [SEP] abstract   (max 256 токенов)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3"/>
          <p:cNvSpPr/>
          <p:nvPr/>
        </p:nvSpPr>
        <p:spPr>
          <a:xfrm>
            <a:off x="4754880" y="1956816"/>
            <a:ext cx="3931920" cy="292608"/>
          </a:xfrm>
          <a:prstGeom prst="rect">
            <a:avLst/>
          </a:prstGeom>
          <a:solidFill>
            <a:srgbClr val="F0F4FA"/>
          </a:solidFill>
          <a:ln cap="flat" cmpd="sng" w="9525">
            <a:solidFill>
              <a:srgbClr val="2E5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3"/>
          <p:cNvSpPr/>
          <p:nvPr/>
        </p:nvSpPr>
        <p:spPr>
          <a:xfrm>
            <a:off x="4846320" y="1956816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DistilBERT-base-uncased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3"/>
          <p:cNvSpPr/>
          <p:nvPr/>
        </p:nvSpPr>
        <p:spPr>
          <a:xfrm>
            <a:off x="4754880" y="2313432"/>
            <a:ext cx="3931920" cy="292608"/>
          </a:xfrm>
          <a:prstGeom prst="rect">
            <a:avLst/>
          </a:prstGeom>
          <a:solidFill>
            <a:srgbClr val="FAFAFA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3"/>
          <p:cNvSpPr/>
          <p:nvPr/>
        </p:nvSpPr>
        <p:spPr>
          <a:xfrm>
            <a:off x="4846320" y="2313432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CLS-токен → вектор 768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3"/>
          <p:cNvSpPr/>
          <p:nvPr/>
        </p:nvSpPr>
        <p:spPr>
          <a:xfrm>
            <a:off x="4754880" y="2670048"/>
            <a:ext cx="3931920" cy="292608"/>
          </a:xfrm>
          <a:prstGeom prst="rect">
            <a:avLst/>
          </a:prstGeom>
          <a:solidFill>
            <a:srgbClr val="FAFAFA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3"/>
          <p:cNvSpPr/>
          <p:nvPr/>
        </p:nvSpPr>
        <p:spPr>
          <a:xfrm>
            <a:off x="4846320" y="2670048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Dropout(0.3)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3"/>
          <p:cNvSpPr/>
          <p:nvPr/>
        </p:nvSpPr>
        <p:spPr>
          <a:xfrm>
            <a:off x="4754880" y="3026664"/>
            <a:ext cx="3931920" cy="292608"/>
          </a:xfrm>
          <a:prstGeom prst="rect">
            <a:avLst/>
          </a:prstGeom>
          <a:solidFill>
            <a:srgbClr val="FAFAFA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3"/>
          <p:cNvSpPr/>
          <p:nvPr/>
        </p:nvSpPr>
        <p:spPr>
          <a:xfrm>
            <a:off x="4846320" y="3026664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Linear(768 → 384) + GELU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3"/>
          <p:cNvSpPr/>
          <p:nvPr/>
        </p:nvSpPr>
        <p:spPr>
          <a:xfrm>
            <a:off x="4754880" y="3383280"/>
            <a:ext cx="3931920" cy="292608"/>
          </a:xfrm>
          <a:prstGeom prst="rect">
            <a:avLst/>
          </a:prstGeom>
          <a:solidFill>
            <a:srgbClr val="FAFAFA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3"/>
          <p:cNvSpPr/>
          <p:nvPr/>
        </p:nvSpPr>
        <p:spPr>
          <a:xfrm>
            <a:off x="4846320" y="3383280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Dropout(0.15)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3"/>
          <p:cNvSpPr/>
          <p:nvPr/>
        </p:nvSpPr>
        <p:spPr>
          <a:xfrm>
            <a:off x="4754880" y="3739896"/>
            <a:ext cx="3931920" cy="292608"/>
          </a:xfrm>
          <a:prstGeom prst="rect">
            <a:avLst/>
          </a:prstGeom>
          <a:solidFill>
            <a:srgbClr val="FAFAFA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3"/>
          <p:cNvSpPr/>
          <p:nvPr/>
        </p:nvSpPr>
        <p:spPr>
          <a:xfrm>
            <a:off x="4846320" y="3739896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Linear(384 → N классов)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3"/>
          <p:cNvSpPr/>
          <p:nvPr/>
        </p:nvSpPr>
        <p:spPr>
          <a:xfrm>
            <a:off x="4754880" y="4096512"/>
            <a:ext cx="3931920" cy="292608"/>
          </a:xfrm>
          <a:prstGeom prst="rect">
            <a:avLst/>
          </a:prstGeom>
          <a:solidFill>
            <a:srgbClr val="FAFAFA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3"/>
          <p:cNvSpPr/>
          <p:nvPr/>
        </p:nvSpPr>
        <p:spPr>
          <a:xfrm>
            <a:off x="4846320" y="4096512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softmax → tag + confidence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3"/>
          <p:cNvSpPr/>
          <p:nvPr/>
        </p:nvSpPr>
        <p:spPr>
          <a:xfrm>
            <a:off x="8412480" y="4892040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4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ML · как учили модель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8" name="Google Shape;228;p14"/>
          <p:cNvCxnSpPr/>
          <p:nvPr/>
        </p:nvCxnSpPr>
        <p:spPr>
          <a:xfrm>
            <a:off x="457200" y="105156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9" name="Google Shape;229;p14"/>
          <p:cNvSpPr/>
          <p:nvPr/>
        </p:nvSpPr>
        <p:spPr>
          <a:xfrm>
            <a:off x="457200" y="1280160"/>
            <a:ext cx="402336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датасет: ~70k статей, уже размеченных другой командой</a:t>
            </a:r>
            <a:endParaRPr sz="1200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фильтрация: confidence &gt;= medium, &gt;= 2 примера на класс</a:t>
            </a:r>
            <a:endParaRPr sz="1200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train/val/test = 70/15/15, стратификация по классам</a:t>
            </a:r>
            <a:endParaRPr sz="1200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токенизатор: AutoTokenizer из transformers</a:t>
            </a:r>
            <a:endParaRPr sz="1200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оптимизатор: AdamW, lr = 1e-4 – на первом этапе, lr = 5e-6 – на втором этапе, weight_decay = 0.01</a:t>
            </a:r>
            <a:endParaRPr sz="1200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scheduler: linear warmup 10% + decay</a:t>
            </a:r>
            <a:endParaRPr sz="1200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20 эпох – на первую стадию обучения, 10 – на вторую, batch_size = 32</a:t>
            </a:r>
            <a:endParaRPr sz="1200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сохраняем лучший val_accuracy</a:t>
            </a:r>
            <a:endParaRPr sz="1200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итог: чекпоинт (cfg + classes + state_dict) в .pt</a:t>
            </a:r>
            <a:endParaRPr sz="1200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4"/>
          <p:cNvSpPr/>
          <p:nvPr/>
        </p:nvSpPr>
        <p:spPr>
          <a:xfrm>
            <a:off x="4754880" y="1280160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Consolas"/>
              <a:buNone/>
            </a:pPr>
            <a:r>
              <a:rPr b="1" lang="en-US" sz="10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PY   train_model.py (фрагмент)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4"/>
          <p:cNvSpPr/>
          <p:nvPr/>
        </p:nvSpPr>
        <p:spPr>
          <a:xfrm>
            <a:off x="4754880" y="1554480"/>
            <a:ext cx="3931920" cy="292608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4"/>
          <p:cNvSpPr/>
          <p:nvPr/>
        </p:nvSpPr>
        <p:spPr>
          <a:xfrm>
            <a:off x="4864608" y="1627632"/>
            <a:ext cx="3712464" cy="2816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for epoch in range(cfg.epochs):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train_loss = train_epoch(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model, train_loader,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optimizer, scheduler,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criterion, device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val_loss, val_acc = eval_epoch(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model, val_loader,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criterion, device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if val_acc &gt; best_val_acc: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best_val_acc = val_acc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torch.save({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  'cfg': cfg,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  'label_encoder_classes': classes,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  'model_state': model.state_dict()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}, output_path)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4"/>
          <p:cNvSpPr/>
          <p:nvPr/>
        </p:nvSpPr>
        <p:spPr>
          <a:xfrm>
            <a:off x="8412480" y="4892040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5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ML-сервис · FastAPI + 5 эндпоинтов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0" name="Google Shape;240;p15"/>
          <p:cNvCxnSpPr/>
          <p:nvPr/>
        </p:nvCxnSpPr>
        <p:spPr>
          <a:xfrm>
            <a:off x="457200" y="105156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1" name="Google Shape;241;p15"/>
          <p:cNvSpPr/>
          <p:nvPr/>
        </p:nvSpPr>
        <p:spPr>
          <a:xfrm>
            <a:off x="457200" y="128016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C8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2E5C8A"/>
                </a:solidFill>
                <a:latin typeface="Calibri"/>
                <a:ea typeface="Calibri"/>
                <a:cs typeface="Calibri"/>
                <a:sym typeface="Calibri"/>
              </a:rPr>
              <a:t>Зачем отдельный сервис, а не звать Python из R: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5"/>
          <p:cNvSpPr/>
          <p:nvPr/>
        </p:nvSpPr>
        <p:spPr>
          <a:xfrm>
            <a:off x="640080" y="15544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модель грузится один раз - не при каждом вызове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R и Python живут в разных контейнерах (чистое разделение)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любой другой сервис может звать тот же API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3" name="Google Shape;243;p15"/>
          <p:cNvCxnSpPr/>
          <p:nvPr/>
        </p:nvCxnSpPr>
        <p:spPr>
          <a:xfrm>
            <a:off x="457200" y="260604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4" name="Google Shape;244;p15"/>
          <p:cNvSpPr/>
          <p:nvPr/>
        </p:nvSpPr>
        <p:spPr>
          <a:xfrm>
            <a:off x="457200" y="2697480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C8A"/>
              </a:buClr>
              <a:buSzPts val="1100"/>
              <a:buFont typeface="Consolas"/>
              <a:buNone/>
            </a:pPr>
            <a:r>
              <a:rPr b="1" lang="en-US" sz="1100">
                <a:solidFill>
                  <a:srgbClr val="2E5C8A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5"/>
          <p:cNvSpPr/>
          <p:nvPr/>
        </p:nvSpPr>
        <p:spPr>
          <a:xfrm>
            <a:off x="1188720" y="2697480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/health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5"/>
          <p:cNvSpPr/>
          <p:nvPr/>
        </p:nvSpPr>
        <p:spPr>
          <a:xfrm>
            <a:off x="3566160" y="2697480"/>
            <a:ext cx="5120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статус сервиса + инфо модели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7" name="Google Shape;247;p15"/>
          <p:cNvCxnSpPr/>
          <p:nvPr/>
        </p:nvCxnSpPr>
        <p:spPr>
          <a:xfrm>
            <a:off x="457200" y="3081528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8" name="Google Shape;248;p15"/>
          <p:cNvSpPr/>
          <p:nvPr/>
        </p:nvSpPr>
        <p:spPr>
          <a:xfrm>
            <a:off x="457200" y="3081528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C8A"/>
              </a:buClr>
              <a:buSzPts val="1100"/>
              <a:buFont typeface="Consolas"/>
              <a:buNone/>
            </a:pPr>
            <a:r>
              <a:rPr b="1" lang="en-US" sz="1100">
                <a:solidFill>
                  <a:srgbClr val="2E5C8A"/>
                </a:solidFill>
                <a:latin typeface="Consolas"/>
                <a:ea typeface="Consolas"/>
                <a:cs typeface="Consolas"/>
                <a:sym typeface="Consolas"/>
              </a:rPr>
              <a:t>POST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5"/>
          <p:cNvSpPr/>
          <p:nvPr/>
        </p:nvSpPr>
        <p:spPr>
          <a:xfrm>
            <a:off x="1188720" y="3081528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/classify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5"/>
          <p:cNvSpPr/>
          <p:nvPr/>
        </p:nvSpPr>
        <p:spPr>
          <a:xfrm>
            <a:off x="3566160" y="3081528"/>
            <a:ext cx="5120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батч статей → tag + confidence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1" name="Google Shape;251;p15"/>
          <p:cNvCxnSpPr/>
          <p:nvPr/>
        </p:nvCxnSpPr>
        <p:spPr>
          <a:xfrm>
            <a:off x="457200" y="3465576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2" name="Google Shape;252;p15"/>
          <p:cNvSpPr/>
          <p:nvPr/>
        </p:nvSpPr>
        <p:spPr>
          <a:xfrm>
            <a:off x="457200" y="3465576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C8A"/>
              </a:buClr>
              <a:buSzPts val="1100"/>
              <a:buFont typeface="Consolas"/>
              <a:buNone/>
            </a:pPr>
            <a:r>
              <a:rPr b="1" lang="en-US" sz="1100">
                <a:solidFill>
                  <a:srgbClr val="2E5C8A"/>
                </a:solidFill>
                <a:latin typeface="Consolas"/>
                <a:ea typeface="Consolas"/>
                <a:cs typeface="Consolas"/>
                <a:sym typeface="Consolas"/>
              </a:rPr>
              <a:t>POST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5"/>
          <p:cNvSpPr/>
          <p:nvPr/>
        </p:nvSpPr>
        <p:spPr>
          <a:xfrm>
            <a:off x="1188720" y="3465576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/classify_single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5"/>
          <p:cNvSpPr/>
          <p:nvPr/>
        </p:nvSpPr>
        <p:spPr>
          <a:xfrm>
            <a:off x="3566160" y="3465576"/>
            <a:ext cx="5120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одна статья (ad-hoc из GUI)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5" name="Google Shape;255;p15"/>
          <p:cNvCxnSpPr/>
          <p:nvPr/>
        </p:nvCxnSpPr>
        <p:spPr>
          <a:xfrm>
            <a:off x="457200" y="3849624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6" name="Google Shape;256;p15"/>
          <p:cNvSpPr/>
          <p:nvPr/>
        </p:nvSpPr>
        <p:spPr>
          <a:xfrm>
            <a:off x="457200" y="3849624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C8A"/>
              </a:buClr>
              <a:buSzPts val="1100"/>
              <a:buFont typeface="Consolas"/>
              <a:buNone/>
            </a:pPr>
            <a:r>
              <a:rPr b="1" lang="en-US" sz="1100">
                <a:solidFill>
                  <a:srgbClr val="2E5C8A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5"/>
          <p:cNvSpPr/>
          <p:nvPr/>
        </p:nvSpPr>
        <p:spPr>
          <a:xfrm>
            <a:off x="1188720" y="3849624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/model_info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5"/>
          <p:cNvSpPr/>
          <p:nvPr/>
        </p:nvSpPr>
        <p:spPr>
          <a:xfrm>
            <a:off x="3566160" y="3849624"/>
            <a:ext cx="5120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классы, параметры, устройство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9" name="Google Shape;259;p15"/>
          <p:cNvCxnSpPr/>
          <p:nvPr/>
        </p:nvCxnSpPr>
        <p:spPr>
          <a:xfrm>
            <a:off x="457200" y="4233672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0" name="Google Shape;260;p15"/>
          <p:cNvSpPr/>
          <p:nvPr/>
        </p:nvSpPr>
        <p:spPr>
          <a:xfrm>
            <a:off x="457200" y="4233672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C8A"/>
              </a:buClr>
              <a:buSzPts val="1100"/>
              <a:buFont typeface="Consolas"/>
              <a:buNone/>
            </a:pPr>
            <a:r>
              <a:rPr b="1" lang="en-US" sz="1100">
                <a:solidFill>
                  <a:srgbClr val="2E5C8A"/>
                </a:solidFill>
                <a:latin typeface="Consolas"/>
                <a:ea typeface="Consolas"/>
                <a:cs typeface="Consolas"/>
                <a:sym typeface="Consolas"/>
              </a:rPr>
              <a:t>POST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5"/>
          <p:cNvSpPr/>
          <p:nvPr/>
        </p:nvSpPr>
        <p:spPr>
          <a:xfrm>
            <a:off x="1188720" y="4233672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/reload_model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5"/>
          <p:cNvSpPr/>
          <p:nvPr/>
        </p:nvSpPr>
        <p:spPr>
          <a:xfrm>
            <a:off x="3566160" y="4233672"/>
            <a:ext cx="5120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перечитать .pt без рестарта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5"/>
          <p:cNvSpPr/>
          <p:nvPr/>
        </p:nvSpPr>
        <p:spPr>
          <a:xfrm>
            <a:off x="8412480" y="4892040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6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Интерфейс · Shiny GUI, 6 вкладок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0" name="Google Shape;270;p16"/>
          <p:cNvCxnSpPr/>
          <p:nvPr/>
        </p:nvCxnSpPr>
        <p:spPr>
          <a:xfrm>
            <a:off x="457200" y="105156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1" name="Google Shape;271;p16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solidFill>
            <a:srgbClr val="FAFAFA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6"/>
          <p:cNvSpPr/>
          <p:nvPr/>
        </p:nvSpPr>
        <p:spPr>
          <a:xfrm>
            <a:off x="594360" y="128016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📊 Обзор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6"/>
          <p:cNvSpPr/>
          <p:nvPr/>
        </p:nvSpPr>
        <p:spPr>
          <a:xfrm>
            <a:off x="2743200" y="1280160"/>
            <a:ext cx="5852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метрики + pie-chart тегов + график по месяцам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6"/>
          <p:cNvSpPr/>
          <p:nvPr/>
        </p:nvSpPr>
        <p:spPr>
          <a:xfrm>
            <a:off x="457200" y="1810512"/>
            <a:ext cx="8229600" cy="457200"/>
          </a:xfrm>
          <a:prstGeom prst="rect">
            <a:avLst/>
          </a:prstGeom>
          <a:solidFill>
            <a:srgbClr val="FAFAFA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6"/>
          <p:cNvSpPr/>
          <p:nvPr/>
        </p:nvSpPr>
        <p:spPr>
          <a:xfrm>
            <a:off x="594360" y="1810512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📥 Загрузка (ETL)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6"/>
          <p:cNvSpPr/>
          <p:nvPr/>
        </p:nvSpPr>
        <p:spPr>
          <a:xfrm>
            <a:off x="2743200" y="1810512"/>
            <a:ext cx="5852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кнопка запуска, прогресс, лог, результат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6"/>
          <p:cNvSpPr/>
          <p:nvPr/>
        </p:nvSpPr>
        <p:spPr>
          <a:xfrm>
            <a:off x="457200" y="2340864"/>
            <a:ext cx="8229600" cy="457200"/>
          </a:xfrm>
          <a:prstGeom prst="rect">
            <a:avLst/>
          </a:prstGeom>
          <a:solidFill>
            <a:srgbClr val="FAFAFA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6"/>
          <p:cNvSpPr/>
          <p:nvPr/>
        </p:nvSpPr>
        <p:spPr>
          <a:xfrm>
            <a:off x="594360" y="2340864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📚 Таблица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6"/>
          <p:cNvSpPr/>
          <p:nvPr/>
        </p:nvSpPr>
        <p:spPr>
          <a:xfrm>
            <a:off x="2743200" y="2340864"/>
            <a:ext cx="5852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все статьи, фильтры, поиск, экспорт CSV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6"/>
          <p:cNvSpPr/>
          <p:nvPr/>
        </p:nvSpPr>
        <p:spPr>
          <a:xfrm>
            <a:off x="457200" y="2871216"/>
            <a:ext cx="8229600" cy="457200"/>
          </a:xfrm>
          <a:prstGeom prst="rect">
            <a:avLst/>
          </a:prstGeom>
          <a:solidFill>
            <a:srgbClr val="FAFAFA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6"/>
          <p:cNvSpPr/>
          <p:nvPr/>
        </p:nvSpPr>
        <p:spPr>
          <a:xfrm>
            <a:off x="594360" y="2871216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🤖 ML-классификатор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6"/>
          <p:cNvSpPr/>
          <p:nvPr/>
        </p:nvSpPr>
        <p:spPr>
          <a:xfrm>
            <a:off x="2743200" y="2871216"/>
            <a:ext cx="5852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статус сервиса + ad-hoc + пакетная классификация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6"/>
          <p:cNvSpPr/>
          <p:nvPr/>
        </p:nvSpPr>
        <p:spPr>
          <a:xfrm>
            <a:off x="457200" y="3401568"/>
            <a:ext cx="8229600" cy="457200"/>
          </a:xfrm>
          <a:prstGeom prst="rect">
            <a:avLst/>
          </a:prstGeom>
          <a:solidFill>
            <a:srgbClr val="FAFAFA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6"/>
          <p:cNvSpPr/>
          <p:nvPr/>
        </p:nvSpPr>
        <p:spPr>
          <a:xfrm>
            <a:off x="594360" y="3401568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📈 Аналитика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6"/>
          <p:cNvSpPr/>
          <p:nvPr/>
        </p:nvSpPr>
        <p:spPr>
          <a:xfrm>
            <a:off x="2743200" y="3401568"/>
            <a:ext cx="5852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топ авторов, топ слов, кросс-таблица keyword×ML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6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solidFill>
            <a:srgbClr val="FAFAFA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6"/>
          <p:cNvSpPr/>
          <p:nvPr/>
        </p:nvSpPr>
        <p:spPr>
          <a:xfrm>
            <a:off x="594360" y="393192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⚙ Настройки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6"/>
          <p:cNvSpPr/>
          <p:nvPr/>
        </p:nvSpPr>
        <p:spPr>
          <a:xfrm>
            <a:off x="2743200" y="3931920"/>
            <a:ext cx="5852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пути, reinit схемы БД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6"/>
          <p:cNvSpPr/>
          <p:nvPr/>
        </p:nvSpPr>
        <p:spPr>
          <a:xfrm>
            <a:off x="8412480" y="4892040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7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GUI · как выглядит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6" name="Google Shape;296;p17"/>
          <p:cNvCxnSpPr/>
          <p:nvPr/>
        </p:nvCxnSpPr>
        <p:spPr>
          <a:xfrm>
            <a:off x="457200" y="105156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7" name="Google Shape;297;p17"/>
          <p:cNvSpPr/>
          <p:nvPr/>
        </p:nvSpPr>
        <p:spPr>
          <a:xfrm>
            <a:off x="8412480" y="4892040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Изображение выглядит как текст, снимок экрана, веб-страница, программное обеспечение&#10;&#10;Контент, сгенерированный ИИ, может содержать ошибки." id="298" name="Google Shape;29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842456"/>
            <a:ext cx="8408786" cy="17579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8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GUI · как выглядит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5" name="Google Shape;305;p18"/>
          <p:cNvCxnSpPr/>
          <p:nvPr/>
        </p:nvCxnSpPr>
        <p:spPr>
          <a:xfrm>
            <a:off x="457200" y="105156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6" name="Google Shape;306;p18"/>
          <p:cNvSpPr/>
          <p:nvPr/>
        </p:nvSpPr>
        <p:spPr>
          <a:xfrm>
            <a:off x="8412480" y="4892040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Изображение выглядит как текст, программное обеспечение, Мультимедийное программное обеспечение, Значок на компьютере&#10;&#10;Контент, сгенерированный ИИ, может содержать ошибки." id="307" name="Google Shape;30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480333"/>
            <a:ext cx="8382050" cy="27678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9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Расширение 1 · свой pipeline обучения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4" name="Google Shape;314;p19"/>
          <p:cNvCxnSpPr/>
          <p:nvPr/>
        </p:nvCxnSpPr>
        <p:spPr>
          <a:xfrm>
            <a:off x="457200" y="105156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5" name="Google Shape;315;p19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Идея: пользователь может подставить свой классификатор - не только наш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9"/>
          <p:cNvSpPr/>
          <p:nvPr/>
        </p:nvSpPr>
        <p:spPr>
          <a:xfrm>
            <a:off x="457200" y="1783080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C8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2E5C8A"/>
                </a:solidFill>
                <a:latin typeface="Calibri"/>
                <a:ea typeface="Calibri"/>
                <a:cs typeface="Calibri"/>
                <a:sym typeface="Calibri"/>
              </a:rPr>
              <a:t>Что даём пользователю: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9"/>
          <p:cNvSpPr/>
          <p:nvPr/>
        </p:nvSpPr>
        <p:spPr>
          <a:xfrm>
            <a:off x="457200" y="2103120"/>
            <a:ext cx="411480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готовый train_model.py - меняй гиперпараметры через CLI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свои CSV с метками (колонки arxiv_id, category)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свой набор классов - LabelEncoder учится на месте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чекпоинт в формате .pt - положи в models/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/reload_model перечитывает без рестарта сервиса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9"/>
          <p:cNvSpPr/>
          <p:nvPr/>
        </p:nvSpPr>
        <p:spPr>
          <a:xfrm>
            <a:off x="4663440" y="1783080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C8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2E5C8A"/>
                </a:solidFill>
                <a:latin typeface="Calibri"/>
                <a:ea typeface="Calibri"/>
                <a:cs typeface="Calibri"/>
                <a:sym typeface="Calibri"/>
              </a:rPr>
              <a:t>Свои ключевые слова: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9"/>
          <p:cNvSpPr/>
          <p:nvPr/>
        </p:nvSpPr>
        <p:spPr>
          <a:xfrm>
            <a:off x="4663440" y="2103120"/>
            <a:ext cx="402336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tag_keywords в classify_data.R - открытый словарь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добавил свой класс → пересобрал пакет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можно подгружать из YAML/JSON без пересборки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веса фраз тоже настраиваемые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9"/>
          <p:cNvSpPr/>
          <p:nvPr/>
        </p:nvSpPr>
        <p:spPr>
          <a:xfrm>
            <a:off x="8412480" y="4892040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0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Расширение 2 · «магазин» классификаторов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7" name="Google Shape;327;p20"/>
          <p:cNvCxnSpPr/>
          <p:nvPr/>
        </p:nvCxnSpPr>
        <p:spPr>
          <a:xfrm>
            <a:off x="457200" y="105156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8" name="Google Shape;328;p20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Идея: поддержать несколько моделей одновременно, выбирать под задачу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0"/>
          <p:cNvSpPr/>
          <p:nvPr/>
        </p:nvSpPr>
        <p:spPr>
          <a:xfrm>
            <a:off x="457200" y="1828800"/>
            <a:ext cx="8229600" cy="2286000"/>
          </a:xfrm>
          <a:prstGeom prst="rect">
            <a:avLst/>
          </a:prstGeom>
          <a:solidFill>
            <a:srgbClr val="FAFAFA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0"/>
          <p:cNvSpPr/>
          <p:nvPr/>
        </p:nvSpPr>
        <p:spPr>
          <a:xfrm>
            <a:off x="457200" y="1920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ML-сервис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0"/>
          <p:cNvSpPr/>
          <p:nvPr/>
        </p:nvSpPr>
        <p:spPr>
          <a:xfrm>
            <a:off x="685800" y="2331720"/>
            <a:ext cx="2560320" cy="1463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2E5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20"/>
          <p:cNvSpPr/>
          <p:nvPr/>
        </p:nvSpPr>
        <p:spPr>
          <a:xfrm>
            <a:off x="777240" y="242316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C8A"/>
              </a:buClr>
              <a:buSzPts val="1000"/>
              <a:buFont typeface="Consolas"/>
              <a:buNone/>
            </a:pPr>
            <a:r>
              <a:rPr b="1" lang="en-US" sz="1000">
                <a:solidFill>
                  <a:srgbClr val="2E5C8A"/>
                </a:solidFill>
                <a:latin typeface="Consolas"/>
                <a:ea typeface="Consolas"/>
                <a:cs typeface="Consolas"/>
                <a:sym typeface="Consolas"/>
              </a:rPr>
              <a:t>models/general.pt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0"/>
          <p:cNvSpPr/>
          <p:nvPr/>
        </p:nvSpPr>
        <p:spPr>
          <a:xfrm>
            <a:off x="777240" y="274320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17 классов ИБ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0"/>
          <p:cNvSpPr/>
          <p:nvPr/>
        </p:nvSpPr>
        <p:spPr>
          <a:xfrm>
            <a:off x="777240" y="3063240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для общего корпуса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0"/>
          <p:cNvSpPr/>
          <p:nvPr/>
        </p:nvSpPr>
        <p:spPr>
          <a:xfrm>
            <a:off x="3429000" y="2331720"/>
            <a:ext cx="2560320" cy="1463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2E5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0"/>
          <p:cNvSpPr/>
          <p:nvPr/>
        </p:nvSpPr>
        <p:spPr>
          <a:xfrm>
            <a:off x="3520440" y="242316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C8A"/>
              </a:buClr>
              <a:buSzPts val="1000"/>
              <a:buFont typeface="Consolas"/>
              <a:buNone/>
            </a:pPr>
            <a:r>
              <a:rPr b="1" lang="en-US" sz="1000">
                <a:solidFill>
                  <a:srgbClr val="2E5C8A"/>
                </a:solidFill>
                <a:latin typeface="Consolas"/>
                <a:ea typeface="Consolas"/>
                <a:cs typeface="Consolas"/>
                <a:sym typeface="Consolas"/>
              </a:rPr>
              <a:t>models/malware.pt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0"/>
          <p:cNvSpPr/>
          <p:nvPr/>
        </p:nvSpPr>
        <p:spPr>
          <a:xfrm>
            <a:off x="3520440" y="274320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специализация по malware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0"/>
          <p:cNvSpPr/>
          <p:nvPr/>
        </p:nvSpPr>
        <p:spPr>
          <a:xfrm>
            <a:off x="3520440" y="3063240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ransomware, loader, trojan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0"/>
          <p:cNvSpPr/>
          <p:nvPr/>
        </p:nvSpPr>
        <p:spPr>
          <a:xfrm>
            <a:off x="6172200" y="2331720"/>
            <a:ext cx="2560320" cy="1463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2E5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0"/>
          <p:cNvSpPr/>
          <p:nvPr/>
        </p:nvSpPr>
        <p:spPr>
          <a:xfrm>
            <a:off x="6263640" y="242316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C8A"/>
              </a:buClr>
              <a:buSzPts val="1000"/>
              <a:buFont typeface="Consolas"/>
              <a:buNone/>
            </a:pPr>
            <a:r>
              <a:rPr b="1" lang="en-US" sz="1000">
                <a:solidFill>
                  <a:srgbClr val="2E5C8A"/>
                </a:solidFill>
                <a:latin typeface="Consolas"/>
                <a:ea typeface="Consolas"/>
                <a:cs typeface="Consolas"/>
                <a:sym typeface="Consolas"/>
              </a:rPr>
              <a:t>models/ru_papers.pt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0"/>
          <p:cNvSpPr/>
          <p:nvPr/>
        </p:nvSpPr>
        <p:spPr>
          <a:xfrm>
            <a:off x="6263640" y="274320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рус. корпус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0"/>
          <p:cNvSpPr/>
          <p:nvPr/>
        </p:nvSpPr>
        <p:spPr>
          <a:xfrm>
            <a:off x="6263640" y="3063240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eLibrary, CyberLeninka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0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API: POST /classify?model=malware - параметр выбирает модель для батча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0"/>
          <p:cNvSpPr/>
          <p:nvPr/>
        </p:nvSpPr>
        <p:spPr>
          <a:xfrm>
            <a:off x="8412480" y="4892040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1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Расширение 3 · другие источники статей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1" name="Google Shape;351;p21"/>
          <p:cNvCxnSpPr/>
          <p:nvPr/>
        </p:nvCxnSpPr>
        <p:spPr>
          <a:xfrm>
            <a:off x="457200" y="105156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2" name="Google Shape;352;p21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Сейчас только arXiv. Что можно добавить: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3" name="Google Shape;353;p21"/>
          <p:cNvCxnSpPr/>
          <p:nvPr/>
        </p:nvCxnSpPr>
        <p:spPr>
          <a:xfrm>
            <a:off x="457200" y="169164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4" name="Google Shape;354;p21"/>
          <p:cNvSpPr/>
          <p:nvPr/>
        </p:nvSpPr>
        <p:spPr>
          <a:xfrm>
            <a:off x="457200" y="173736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CyberLeninka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1"/>
          <p:cNvSpPr/>
          <p:nvPr/>
        </p:nvSpPr>
        <p:spPr>
          <a:xfrm>
            <a:off x="2011680" y="173736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C8A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2E5C8A"/>
                </a:solidFill>
                <a:latin typeface="Consolas"/>
                <a:ea typeface="Consolas"/>
                <a:cs typeface="Consolas"/>
                <a:sym typeface="Consolas"/>
              </a:rPr>
              <a:t>cyberleninka.ru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1"/>
          <p:cNvSpPr/>
          <p:nvPr/>
        </p:nvSpPr>
        <p:spPr>
          <a:xfrm>
            <a:off x="3749040" y="173736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рус. научные статьи, открытый API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7" name="Google Shape;357;p21"/>
          <p:cNvCxnSpPr/>
          <p:nvPr/>
        </p:nvCxnSpPr>
        <p:spPr>
          <a:xfrm>
            <a:off x="457200" y="2167128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8" name="Google Shape;358;p21"/>
          <p:cNvSpPr/>
          <p:nvPr/>
        </p:nvSpPr>
        <p:spPr>
          <a:xfrm>
            <a:off x="457200" y="2212848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eLibrary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1"/>
          <p:cNvSpPr/>
          <p:nvPr/>
        </p:nvSpPr>
        <p:spPr>
          <a:xfrm>
            <a:off x="2011680" y="2212848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C8A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2E5C8A"/>
                </a:solidFill>
                <a:latin typeface="Consolas"/>
                <a:ea typeface="Consolas"/>
                <a:cs typeface="Consolas"/>
                <a:sym typeface="Consolas"/>
              </a:rPr>
              <a:t>elibrary.ru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1"/>
          <p:cNvSpPr/>
          <p:nvPr/>
        </p:nvSpPr>
        <p:spPr>
          <a:xfrm>
            <a:off x="3749040" y="221284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крупнейшая рус. база, по ИБ много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1" name="Google Shape;361;p21"/>
          <p:cNvCxnSpPr/>
          <p:nvPr/>
        </p:nvCxnSpPr>
        <p:spPr>
          <a:xfrm>
            <a:off x="457200" y="2642616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2" name="Google Shape;362;p21"/>
          <p:cNvSpPr/>
          <p:nvPr/>
        </p:nvSpPr>
        <p:spPr>
          <a:xfrm>
            <a:off x="457200" y="2688336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ВАК-журналы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1"/>
          <p:cNvSpPr/>
          <p:nvPr/>
        </p:nvSpPr>
        <p:spPr>
          <a:xfrm>
            <a:off x="2011680" y="2688336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C8A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2E5C8A"/>
                </a:solidFill>
                <a:latin typeface="Consolas"/>
                <a:ea typeface="Consolas"/>
                <a:cs typeface="Consolas"/>
                <a:sym typeface="Consolas"/>
              </a:rPr>
              <a:t>vak.ed.gov.ru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1"/>
          <p:cNvSpPr/>
          <p:nvPr/>
        </p:nvSpPr>
        <p:spPr>
          <a:xfrm>
            <a:off x="3749040" y="268833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рус. специализированные журналы по ИБ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5" name="Google Shape;365;p21"/>
          <p:cNvCxnSpPr/>
          <p:nvPr/>
        </p:nvCxnSpPr>
        <p:spPr>
          <a:xfrm>
            <a:off x="457200" y="3118104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6" name="Google Shape;366;p21"/>
          <p:cNvSpPr/>
          <p:nvPr/>
        </p:nvSpPr>
        <p:spPr>
          <a:xfrm>
            <a:off x="457200" y="3163824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Хабр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1"/>
          <p:cNvSpPr/>
          <p:nvPr/>
        </p:nvSpPr>
        <p:spPr>
          <a:xfrm>
            <a:off x="2011680" y="3163824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C8A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2E5C8A"/>
                </a:solidFill>
                <a:latin typeface="Consolas"/>
                <a:ea typeface="Consolas"/>
                <a:cs typeface="Consolas"/>
                <a:sym typeface="Consolas"/>
              </a:rPr>
              <a:t>habr.com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1"/>
          <p:cNvSpPr/>
          <p:nvPr/>
        </p:nvSpPr>
        <p:spPr>
          <a:xfrm>
            <a:off x="3749040" y="3163824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практические статьи, не только академ.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9" name="Google Shape;369;p21"/>
          <p:cNvCxnSpPr/>
          <p:nvPr/>
        </p:nvCxnSpPr>
        <p:spPr>
          <a:xfrm>
            <a:off x="457200" y="3593592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0" name="Google Shape;370;p21"/>
          <p:cNvSpPr/>
          <p:nvPr/>
        </p:nvSpPr>
        <p:spPr>
          <a:xfrm>
            <a:off x="457200" y="3639312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IEEE Xplore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1"/>
          <p:cNvSpPr/>
          <p:nvPr/>
        </p:nvSpPr>
        <p:spPr>
          <a:xfrm>
            <a:off x="2011680" y="3639312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C8A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2E5C8A"/>
                </a:solidFill>
                <a:latin typeface="Consolas"/>
                <a:ea typeface="Consolas"/>
                <a:cs typeface="Consolas"/>
                <a:sym typeface="Consolas"/>
              </a:rPr>
              <a:t>ieeexplore.ieee.org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1"/>
          <p:cNvSpPr/>
          <p:nvPr/>
        </p:nvSpPr>
        <p:spPr>
          <a:xfrm>
            <a:off x="3749040" y="363931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конференции, academic paywall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3" name="Google Shape;373;p21"/>
          <p:cNvCxnSpPr/>
          <p:nvPr/>
        </p:nvCxnSpPr>
        <p:spPr>
          <a:xfrm>
            <a:off x="457200" y="406908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4" name="Google Shape;374;p21"/>
          <p:cNvSpPr/>
          <p:nvPr/>
        </p:nvSpPr>
        <p:spPr>
          <a:xfrm>
            <a:off x="457200" y="411480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ACM DL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1"/>
          <p:cNvSpPr/>
          <p:nvPr/>
        </p:nvSpPr>
        <p:spPr>
          <a:xfrm>
            <a:off x="2011680" y="411480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C8A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2E5C8A"/>
                </a:solidFill>
                <a:latin typeface="Consolas"/>
                <a:ea typeface="Consolas"/>
                <a:cs typeface="Consolas"/>
                <a:sym typeface="Consolas"/>
              </a:rPr>
              <a:t>dl.acm.org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1"/>
          <p:cNvSpPr/>
          <p:nvPr/>
        </p:nvSpPr>
        <p:spPr>
          <a:xfrm>
            <a:off x="3749040" y="41148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классика CS и security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1"/>
          <p:cNvSpPr/>
          <p:nvPr/>
        </p:nvSpPr>
        <p:spPr>
          <a:xfrm>
            <a:off x="8412480" y="4892040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2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Чем мы лучше LLM и готовых решений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2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для кого вообще этот проект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5" name="Google Shape;385;p22"/>
          <p:cNvCxnSpPr/>
          <p:nvPr/>
        </p:nvCxnSpPr>
        <p:spPr>
          <a:xfrm>
            <a:off x="457200" y="105156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6" name="Google Shape;386;p22"/>
          <p:cNvSpPr/>
          <p:nvPr/>
        </p:nvSpPr>
        <p:spPr>
          <a:xfrm>
            <a:off x="457200" y="128016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C8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2E5C8A"/>
                </a:solidFill>
                <a:latin typeface="Calibri"/>
                <a:ea typeface="Calibri"/>
                <a:cs typeface="Calibri"/>
                <a:sym typeface="Calibri"/>
              </a:rPr>
              <a:t>Кому это полезно: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2"/>
          <p:cNvSpPr/>
          <p:nvPr/>
        </p:nvSpPr>
        <p:spPr>
          <a:xfrm>
            <a:off x="640080" y="155448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студентам и аспирантам ИБ - собрать свой корпус по теме диплома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ресерч-группам - отслеживать что пишут по нужной подтеме за неделю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сотрудникам SOC/CTI - быстрый feed новых TTP из научных работ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2"/>
          <p:cNvSpPr/>
          <p:nvPr/>
        </p:nvSpPr>
        <p:spPr>
          <a:xfrm>
            <a:off x="457200" y="260604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Критерий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2"/>
          <p:cNvSpPr/>
          <p:nvPr/>
        </p:nvSpPr>
        <p:spPr>
          <a:xfrm>
            <a:off x="2651760" y="260604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CyberArXiv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2"/>
          <p:cNvSpPr/>
          <p:nvPr/>
        </p:nvSpPr>
        <p:spPr>
          <a:xfrm>
            <a:off x="4663440" y="260604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ChatGPT / LLM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1" name="Google Shape;391;p22"/>
          <p:cNvCxnSpPr/>
          <p:nvPr/>
        </p:nvCxnSpPr>
        <p:spPr>
          <a:xfrm>
            <a:off x="457200" y="2898648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2" name="Google Shape;392;p22"/>
          <p:cNvSpPr/>
          <p:nvPr/>
        </p:nvSpPr>
        <p:spPr>
          <a:xfrm>
            <a:off x="457200" y="2907792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Локальность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2"/>
          <p:cNvSpPr/>
          <p:nvPr/>
        </p:nvSpPr>
        <p:spPr>
          <a:xfrm>
            <a:off x="2651760" y="2907792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C8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E5C8A"/>
                </a:solidFill>
                <a:latin typeface="Calibri"/>
                <a:ea typeface="Calibri"/>
                <a:cs typeface="Calibri"/>
                <a:sym typeface="Calibri"/>
              </a:rPr>
              <a:t>полностью local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2"/>
          <p:cNvSpPr/>
          <p:nvPr/>
        </p:nvSpPr>
        <p:spPr>
          <a:xfrm>
            <a:off x="4663440" y="2907792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облако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5" name="Google Shape;395;p22"/>
          <p:cNvCxnSpPr/>
          <p:nvPr/>
        </p:nvCxnSpPr>
        <p:spPr>
          <a:xfrm>
            <a:off x="457200" y="320040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6" name="Google Shape;396;p22"/>
          <p:cNvSpPr/>
          <p:nvPr/>
        </p:nvSpPr>
        <p:spPr>
          <a:xfrm>
            <a:off x="457200" y="3209544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Стоимость запросов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2"/>
          <p:cNvSpPr/>
          <p:nvPr/>
        </p:nvSpPr>
        <p:spPr>
          <a:xfrm>
            <a:off x="2651760" y="3209544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C8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E5C8A"/>
                </a:solidFill>
                <a:latin typeface="Calibri"/>
                <a:ea typeface="Calibri"/>
                <a:cs typeface="Calibri"/>
                <a:sym typeface="Calibri"/>
              </a:rPr>
              <a:t>бесплатно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2"/>
          <p:cNvSpPr/>
          <p:nvPr/>
        </p:nvSpPr>
        <p:spPr>
          <a:xfrm>
            <a:off x="4663440" y="3209544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$20+/мес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9" name="Google Shape;399;p22"/>
          <p:cNvCxnSpPr/>
          <p:nvPr/>
        </p:nvCxnSpPr>
        <p:spPr>
          <a:xfrm>
            <a:off x="457200" y="3502152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0" name="Google Shape;400;p22"/>
          <p:cNvSpPr/>
          <p:nvPr/>
        </p:nvSpPr>
        <p:spPr>
          <a:xfrm>
            <a:off x="457200" y="3511296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Воспроизводимость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2"/>
          <p:cNvSpPr/>
          <p:nvPr/>
        </p:nvSpPr>
        <p:spPr>
          <a:xfrm>
            <a:off x="2651760" y="3511296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C8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E5C8A"/>
                </a:solidFill>
                <a:latin typeface="Calibri"/>
                <a:ea typeface="Calibri"/>
                <a:cs typeface="Calibri"/>
                <a:sym typeface="Calibri"/>
              </a:rPr>
              <a:t>детерминированно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2"/>
          <p:cNvSpPr/>
          <p:nvPr/>
        </p:nvSpPr>
        <p:spPr>
          <a:xfrm>
            <a:off x="4663440" y="3511296"/>
            <a:ext cx="2011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шум между запросами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3" name="Google Shape;403;p22"/>
          <p:cNvCxnSpPr/>
          <p:nvPr/>
        </p:nvCxnSpPr>
        <p:spPr>
          <a:xfrm>
            <a:off x="457200" y="3803904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4" name="Google Shape;404;p22"/>
          <p:cNvSpPr/>
          <p:nvPr/>
        </p:nvSpPr>
        <p:spPr>
          <a:xfrm>
            <a:off x="457200" y="3813048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Свой классификатор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2"/>
          <p:cNvSpPr/>
          <p:nvPr/>
        </p:nvSpPr>
        <p:spPr>
          <a:xfrm>
            <a:off x="2651760" y="381304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C8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E5C8A"/>
                </a:solidFill>
                <a:latin typeface="Calibri"/>
                <a:ea typeface="Calibri"/>
                <a:cs typeface="Calibri"/>
                <a:sym typeface="Calibri"/>
              </a:rPr>
              <a:t>✓ .pt можно менять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2"/>
          <p:cNvSpPr/>
          <p:nvPr/>
        </p:nvSpPr>
        <p:spPr>
          <a:xfrm>
            <a:off x="4663440" y="381304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нет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7" name="Google Shape;407;p22"/>
          <p:cNvCxnSpPr/>
          <p:nvPr/>
        </p:nvCxnSpPr>
        <p:spPr>
          <a:xfrm>
            <a:off x="457200" y="4105656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8" name="Google Shape;408;p22"/>
          <p:cNvSpPr/>
          <p:nvPr/>
        </p:nvSpPr>
        <p:spPr>
          <a:xfrm>
            <a:off x="457200" y="411480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Свои ключевые слова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2"/>
          <p:cNvSpPr/>
          <p:nvPr/>
        </p:nvSpPr>
        <p:spPr>
          <a:xfrm>
            <a:off x="2651760" y="411480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C8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E5C8A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2"/>
          <p:cNvSpPr/>
          <p:nvPr/>
        </p:nvSpPr>
        <p:spPr>
          <a:xfrm>
            <a:off x="4663440" y="411480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нет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1" name="Google Shape;411;p22"/>
          <p:cNvCxnSpPr/>
          <p:nvPr/>
        </p:nvCxnSpPr>
        <p:spPr>
          <a:xfrm>
            <a:off x="457200" y="4407408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2" name="Google Shape;412;p22"/>
          <p:cNvSpPr/>
          <p:nvPr/>
        </p:nvSpPr>
        <p:spPr>
          <a:xfrm>
            <a:off x="457200" y="4416552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Свежесть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2"/>
          <p:cNvSpPr/>
          <p:nvPr/>
        </p:nvSpPr>
        <p:spPr>
          <a:xfrm>
            <a:off x="2651760" y="4416552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C8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E5C8A"/>
                </a:solidFill>
                <a:latin typeface="Calibri"/>
                <a:ea typeface="Calibri"/>
                <a:cs typeface="Calibri"/>
                <a:sym typeface="Calibri"/>
              </a:rPr>
              <a:t>живой arXiv feed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2"/>
          <p:cNvSpPr/>
          <p:nvPr/>
        </p:nvSpPr>
        <p:spPr>
          <a:xfrm>
            <a:off x="4663440" y="4416552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cutoff training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5" name="Google Shape;415;p22"/>
          <p:cNvCxnSpPr/>
          <p:nvPr/>
        </p:nvCxnSpPr>
        <p:spPr>
          <a:xfrm>
            <a:off x="457200" y="470916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6" name="Google Shape;416;p22"/>
          <p:cNvSpPr/>
          <p:nvPr/>
        </p:nvSpPr>
        <p:spPr>
          <a:xfrm>
            <a:off x="8412480" y="4892040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3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Дальше и вопросы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3" name="Google Shape;423;p23"/>
          <p:cNvCxnSpPr/>
          <p:nvPr/>
        </p:nvCxnSpPr>
        <p:spPr>
          <a:xfrm>
            <a:off x="457200" y="105156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4" name="Google Shape;424;p23"/>
          <p:cNvSpPr/>
          <p:nvPr/>
        </p:nvSpPr>
        <p:spPr>
          <a:xfrm>
            <a:off x="457200" y="128016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C8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2E5C8A"/>
                </a:solidFill>
                <a:latin typeface="Calibri"/>
                <a:ea typeface="Calibri"/>
                <a:cs typeface="Calibri"/>
                <a:sym typeface="Calibri"/>
              </a:rPr>
              <a:t>Что планируем до защиты: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3"/>
          <p:cNvSpPr/>
          <p:nvPr/>
        </p:nvSpPr>
        <p:spPr>
          <a:xfrm>
            <a:off x="640075" y="1554475"/>
            <a:ext cx="8229600" cy="8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           </a:t>
            </a: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«магазин» классификаторов (несколько .pt на выбор)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           </a:t>
            </a: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динамические keyword-словари через YAML-конфиг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3"/>
          <p:cNvSpPr/>
          <p:nvPr/>
        </p:nvSpPr>
        <p:spPr>
          <a:xfrm>
            <a:off x="457200" y="320040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C8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2E5C8A"/>
                </a:solidFill>
                <a:latin typeface="Calibri"/>
                <a:ea typeface="Calibri"/>
                <a:cs typeface="Calibri"/>
                <a:sym typeface="Calibri"/>
              </a:rPr>
              <a:t>Куда хочется развиваться дальше: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3"/>
          <p:cNvSpPr/>
          <p:nvPr/>
        </p:nvSpPr>
        <p:spPr>
          <a:xfrm>
            <a:off x="640075" y="3474723"/>
            <a:ext cx="82296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         ф</a:t>
            </a: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ункциональность  для интеграции с LLM и RAG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</a:t>
            </a: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поддержка рус. источников - CyberLeninka, Хабр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8" name="Google Shape;428;p23"/>
          <p:cNvCxnSpPr/>
          <p:nvPr/>
        </p:nvCxnSpPr>
        <p:spPr>
          <a:xfrm>
            <a:off x="457200" y="4617720"/>
            <a:ext cx="8229600" cy="0"/>
          </a:xfrm>
          <a:prstGeom prst="straightConnector1">
            <a:avLst/>
          </a:prstGeom>
          <a:noFill/>
          <a:ln cap="flat" cmpd="sng" w="15225">
            <a:solidFill>
              <a:srgbClr val="2E5C8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9" name="Google Shape;429;p23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Спасибо. Готовы отвечать на вопросы.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